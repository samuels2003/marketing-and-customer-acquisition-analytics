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55c87a0-89d4-907e-1f5b-e7ff132faa61}">
          <p14:sldIdLst>
            <p14:sldId id="256"/>
            <p14:sldId id="257"/>
            <p14:sldId id="258"/>
          </p14:sldIdLst>
        </p14:section>
        <p14:section name="Page 1 – Acquisition Overview" id="{120d3cdc-5c71-5b34-6c59-2d56a5244356}">
          <p14:sldIdLst>
            <p14:sldId id="259"/>
            <p14:sldId id="260"/>
            <p14:sldId id="261"/>
          </p14:sldIdLst>
        </p14:section>
        <p14:section name="Page 2 – Campaign Performance" id="{60137b0c-995e-ab7b-90aa-49ecb4362b40}">
          <p14:sldIdLst>
            <p14:sldId id="262"/>
            <p14:sldId id="263"/>
            <p14:sldId id="264"/>
          </p14:sldIdLst>
        </p14:section>
        <p14:section name="Page 3 – Customer Value" id="{fc3a0223-d534-4ac2-d0ac-3e82c314e8b8}">
          <p14:sldIdLst>
            <p14:sldId id="265"/>
            <p14:sldId id="266"/>
            <p14:sldId id="267"/>
            <p14:sldId id="268"/>
          </p14:sldIdLst>
        </p14:section>
        <p14:section name="Synthesis" id="{9be24d2f-aa5b-65c0-4693-e9e93537769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per customer</c:v>
                </c:pt>
              </c:strCache>
            </c:strRef>
          </c:tx>
          <c:spPr>
            <a:solidFill>
              <a:srgbClr val="8B2E22"/>
            </a:solidFill>
            <a:effectLst/>
          </c:spPr>
          <c:invertIfNegative val="0"/>
          <c:dLbls>
            <c:numFmt formatCode="€0.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cat>
            <c:multiLvlStrRef>
              <c:f>Sheet1!$A$2:$A$7</c:f>
              <c:multiLvlStrCache>
                <c:ptCount val="6"/>
                <c:lvl>
                  <c:pt idx="0">
                    <c:v>Paid Social</c:v>
                  </c:pt>
                  <c:pt idx="1">
                    <c:v>Paid Search</c:v>
                  </c:pt>
                  <c:pt idx="2">
                    <c:v>Affiliate</c:v>
                  </c:pt>
                  <c:pt idx="3">
                    <c:v>Organic Search</c:v>
                  </c:pt>
                  <c:pt idx="4">
                    <c:v>Email / CRM</c:v>
                  </c:pt>
                  <c:pt idx="5">
                    <c:v>Direct</c:v>
                  </c:pt>
                </c:lvl>
              </c:multiLvlStrCache>
            </c:multiLvlStrRef>
          </c:cat>
          <c:val>
            <c:numRef>
              <c:f>Sheet1!$B$2:$B$7</c:f>
              <c:numCache>
                <c:formatCode>General</c:formatCode>
                <c:ptCount val="6"/>
                <c:pt idx="0">
                  <c:v>29.72</c:v>
                </c:pt>
                <c:pt idx="1">
                  <c:v>21.14</c:v>
                </c:pt>
                <c:pt idx="2">
                  <c:v>11.12</c:v>
                </c:pt>
                <c:pt idx="3">
                  <c:v>3.08</c:v>
                </c:pt>
                <c:pt idx="4">
                  <c:v>3.05</c:v>
                </c:pt>
                <c:pt idx="5">
                  <c:v>1.76</c:v>
                </c:pt>
              </c:numCache>
            </c:numRef>
          </c:val>
        </c:ser>
        <c:dLbls>
          <c:numFmt formatCode="€0.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Margin per customer</c:v>
                </c:pt>
              </c:strCache>
            </c:strRef>
          </c:tx>
          <c:spPr>
            <a:solidFill>
              <a:srgbClr val="3F7D58"/>
            </a:solidFill>
            <a:effectLst/>
          </c:spPr>
          <c:invertIfNegative val="0"/>
          <c:dLbls>
            <c:numFmt formatCode="€0.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cat>
            <c:multiLvlStrRef>
              <c:f>Sheet1!$A$2:$A$7</c:f>
              <c:multiLvlStrCache>
                <c:ptCount val="6"/>
                <c:lvl>
                  <c:pt idx="0">
                    <c:v>Email / CRM</c:v>
                  </c:pt>
                  <c:pt idx="1">
                    <c:v>Direct</c:v>
                  </c:pt>
                  <c:pt idx="2">
                    <c:v>Organic Search</c:v>
                  </c:pt>
                  <c:pt idx="3">
                    <c:v>Affiliate</c:v>
                  </c:pt>
                  <c:pt idx="4">
                    <c:v>Paid Search</c:v>
                  </c:pt>
                  <c:pt idx="5">
                    <c:v>Paid Social</c:v>
                  </c:pt>
                </c:lvl>
              </c:multiLvlStrCache>
            </c:multiLvlStrRef>
          </c:cat>
          <c:val>
            <c:numRef>
              <c:f>Sheet1!$B$2:$B$7</c:f>
              <c:numCache>
                <c:formatCode>General</c:formatCode>
                <c:ptCount val="6"/>
                <c:pt idx="0">
                  <c:v>76.59</c:v>
                </c:pt>
                <c:pt idx="1">
                  <c:v>74.63</c:v>
                </c:pt>
                <c:pt idx="2">
                  <c:v>69.64</c:v>
                </c:pt>
                <c:pt idx="3">
                  <c:v>54.94</c:v>
                </c:pt>
                <c:pt idx="4">
                  <c:v>53.84</c:v>
                </c:pt>
                <c:pt idx="5">
                  <c:v>33.81</c:v>
                </c:pt>
              </c:numCache>
            </c:numRef>
          </c:val>
        </c:ser>
        <c:dLbls>
          <c:numFmt formatCode="€0.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Contribution margin %</c:v>
                </c:pt>
              </c:strCache>
            </c:strRef>
          </c:tx>
          <c:spPr>
            <a:solidFill>
              <a:srgbClr val="3F7D58"/>
            </a:solidFill>
            <a:effectLst/>
          </c:spPr>
          <c:invertIfNegative val="0"/>
          <c:dLbls>
            <c:numFmt formatCode="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dPt>
            <c:idx val="0"/>
            <c:invertIfNegative val="0"/>
            <c:bubble3D val="0"/>
            <c:spPr>
              <a:solidFill>
                <a:srgbClr val="3F7D58"/>
              </a:solidFill>
              <a:effectLst/>
            </c:spPr>
          </c:dPt>
          <c:dPt>
            <c:idx val="1"/>
            <c:invertIfNegative val="0"/>
            <c:bubble3D val="0"/>
            <c:spPr>
              <a:solidFill>
                <a:srgbClr val="3F7D58"/>
              </a:solidFill>
              <a:effectLst/>
            </c:spPr>
          </c:dPt>
          <c:dPt>
            <c:idx val="2"/>
            <c:invertIfNegative val="0"/>
            <c:bubble3D val="0"/>
            <c:spPr>
              <a:solidFill>
                <a:srgbClr val="3F7D58"/>
              </a:solidFill>
              <a:effectLst/>
            </c:spPr>
          </c:dPt>
          <c:dPt>
            <c:idx val="3"/>
            <c:invertIfNegative val="0"/>
            <c:bubble3D val="0"/>
            <c:spPr>
              <a:solidFill>
                <a:srgbClr val="3F7D58"/>
              </a:solidFill>
              <a:effectLst/>
            </c:spPr>
          </c:dPt>
          <c:dPt>
            <c:idx val="4"/>
            <c:invertIfNegative val="0"/>
            <c:bubble3D val="0"/>
            <c:spPr>
              <a:solidFill>
                <a:srgbClr val="D9A441"/>
              </a:solidFill>
              <a:effectLst/>
            </c:spPr>
          </c:dPt>
          <c:dPt>
            <c:idx val="5"/>
            <c:invertIfNegative val="0"/>
            <c:bubble3D val="0"/>
            <c:spPr>
              <a:solidFill>
                <a:srgbClr val="C0392B"/>
              </a:solidFill>
              <a:effectLst/>
            </c:spPr>
          </c:dPt>
          <c:cat>
            <c:multiLvlStrRef>
              <c:f>Sheet1!$A$2:$A$7</c:f>
              <c:multiLvlStrCache>
                <c:ptCount val="6"/>
                <c:lvl>
                  <c:pt idx="0">
                    <c:v>Bundle &amp; Save</c:v>
                  </c:pt>
                  <c:pt idx="1">
                    <c:v>Loyalty 10%</c:v>
                  </c:pt>
                  <c:pt idx="2">
                    <c:v>No promotion</c:v>
                  </c:pt>
                  <c:pt idx="3">
                    <c:v>Free Shipping</c:v>
                  </c:pt>
                  <c:pt idx="4">
                    <c:v>Holiday Event 20%</c:v>
                  </c:pt>
                  <c:pt idx="5">
                    <c:v>Clearance 35%</c:v>
                  </c:pt>
                </c:lvl>
              </c:multiLvlStrCache>
            </c:multiLvlStrRef>
          </c:cat>
          <c:val>
            <c:numRef>
              <c:f>Sheet1!$B$2:$B$7</c:f>
              <c:numCache>
                <c:formatCode>General</c:formatCode>
                <c:ptCount val="6"/>
                <c:pt idx="0">
                  <c:v>0.2853</c:v>
                </c:pt>
                <c:pt idx="1">
                  <c:v>0.2714</c:v>
                </c:pt>
                <c:pt idx="2">
                  <c:v>0.2543</c:v>
                </c:pt>
                <c:pt idx="3">
                  <c:v>0.212</c:v>
                </c:pt>
                <c:pt idx="4">
                  <c:v>0.079</c:v>
                </c:pt>
                <c:pt idx="5">
                  <c:v>-0.1227</c:v>
                </c:pt>
              </c:numCache>
            </c:numRef>
          </c:val>
        </c:ser>
        <c:dLbls>
          <c:numFmt formatCode="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2"/>
        <c:crosses val="autoZero"/>
        <c:auto val="1"/>
        <c:lblAlgn val="ctr"/>
        <c:noMultiLvlLbl val="1"/>
      </c:catAx>
      <c:valAx>
        <c:axId val="2094734552"/>
        <c:scaling>
          <c:orientation val="minMax"/>
          <c:max val="0.35"/>
          <c:min val="-0.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customers</c:v>
                </c:pt>
              </c:strCache>
            </c:strRef>
          </c:tx>
          <c:spPr>
            <a:solidFill>
              <a:srgbClr val="C4B29E"/>
            </a:solidFill>
            <a:effectLst/>
          </c:spPr>
          <c:invertIfNegative val="0"/>
          <c:dLbls>
            <c:numFmt formatCode="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cat>
            <c:multiLvlStrRef>
              <c:f>Sheet1!$A$2:$A$7</c:f>
              <c:multiLvlStrCache>
                <c:ptCount val="6"/>
                <c:lvl>
                  <c:pt idx="0">
                    <c:v>VIP</c:v>
                  </c:pt>
                  <c:pt idx="1">
                    <c:v>Loyal</c:v>
                  </c:pt>
                  <c:pt idx="2">
                    <c:v>Growth</c:v>
                  </c:pt>
                  <c:pt idx="3">
                    <c:v>New</c:v>
                  </c:pt>
                  <c:pt idx="4">
                    <c:v>At Risk</c:v>
                  </c:pt>
                  <c:pt idx="5">
                    <c:v>Deal Seeker</c:v>
                  </c:pt>
                </c:lvl>
              </c:multiLvlStrCache>
            </c:multiLvlStrRef>
          </c:cat>
          <c:val>
            <c:numRef>
              <c:f>Sheet1!$B$2:$B$7</c:f>
              <c:numCache>
                <c:formatCode>General</c:formatCode>
                <c:ptCount val="6"/>
                <c:pt idx="0">
                  <c:v>0.0595</c:v>
                </c:pt>
                <c:pt idx="1">
                  <c:v>0.1714</c:v>
                </c:pt>
                <c:pt idx="2">
                  <c:v>0.2391</c:v>
                </c:pt>
                <c:pt idx="3">
                  <c:v>0.2836</c:v>
                </c:pt>
                <c:pt idx="4">
                  <c:v>0.1395</c:v>
                </c:pt>
                <c:pt idx="5">
                  <c:v>0.1068</c:v>
                </c:pt>
              </c:numCache>
            </c:numRef>
          </c:val>
        </c:ser>
        <c:ser>
          <c:idx val="1"/>
          <c:order val="1"/>
          <c:tx>
            <c:strRef>
              <c:f>Sheet1!$C$1</c:f>
              <c:strCache>
                <c:ptCount val="1"/>
                <c:pt idx="0">
                  <c:v>Share of contribution margin</c:v>
                </c:pt>
              </c:strCache>
            </c:strRef>
          </c:tx>
          <c:spPr>
            <a:solidFill>
              <a:srgbClr val="8B2E22"/>
            </a:solidFill>
            <a:effectLst/>
          </c:spPr>
          <c:invertIfNegative val="0"/>
          <c:dLbls>
            <c:numFmt formatCode="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cat>
            <c:multiLvlStrRef>
              <c:f>Sheet1!$A$2:$A$7</c:f>
              <c:multiLvlStrCache>
                <c:ptCount val="6"/>
                <c:lvl>
                  <c:pt idx="0">
                    <c:v>VIP</c:v>
                  </c:pt>
                  <c:pt idx="1">
                    <c:v>Loyal</c:v>
                  </c:pt>
                  <c:pt idx="2">
                    <c:v>Growth</c:v>
                  </c:pt>
                  <c:pt idx="3">
                    <c:v>New</c:v>
                  </c:pt>
                  <c:pt idx="4">
                    <c:v>At Risk</c:v>
                  </c:pt>
                  <c:pt idx="5">
                    <c:v>Deal Seeker</c:v>
                  </c:pt>
                </c:lvl>
              </c:multiLvlStrCache>
            </c:multiLvlStrRef>
          </c:cat>
          <c:val>
            <c:numRef>
              <c:f>Sheet1!$C$2:$C$7</c:f>
              <c:numCache>
                <c:formatCode>General</c:formatCode>
                <c:ptCount val="6"/>
                <c:pt idx="0">
                  <c:v>0.1904</c:v>
                </c:pt>
                <c:pt idx="1">
                  <c:v>0.2785</c:v>
                </c:pt>
                <c:pt idx="2">
                  <c:v>0.2657</c:v>
                </c:pt>
                <c:pt idx="3">
                  <c:v>0.1439</c:v>
                </c:pt>
                <c:pt idx="4">
                  <c:v>0.0799</c:v>
                </c:pt>
                <c:pt idx="5">
                  <c:v>0.0417</c:v>
                </c:pt>
              </c:numCache>
            </c:numRef>
          </c:val>
        </c:ser>
        <c:dLbls>
          <c:numFmt formatCode="0.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1B1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Customers</c:v>
                </c:pt>
              </c:strCache>
            </c:strRef>
          </c:tx>
          <c:spPr>
            <a:solidFill>
              <a:srgbClr val="5E1F17"/>
            </a:solidFill>
            <a:effectLst/>
          </c:spPr>
          <c:invertIfNegative val="0"/>
          <c:dLbls>
            <c:numFmt formatCode="#,##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dPt>
            <c:idx val="0"/>
            <c:invertIfNegative val="0"/>
            <c:bubble3D val="0"/>
            <c:spPr>
              <a:solidFill>
                <a:srgbClr val="5E1F17"/>
              </a:solidFill>
              <a:effectLst/>
            </c:spPr>
          </c:dPt>
          <c:dPt>
            <c:idx val="1"/>
            <c:invertIfNegative val="0"/>
            <c:bubble3D val="0"/>
            <c:spPr>
              <a:solidFill>
                <a:srgbClr val="8B2E22"/>
              </a:solidFill>
              <a:effectLst/>
            </c:spPr>
          </c:dPt>
          <c:dPt>
            <c:idx val="2"/>
            <c:invertIfNegative val="0"/>
            <c:bubble3D val="0"/>
            <c:spPr>
              <a:solidFill>
                <a:srgbClr val="B5604F"/>
              </a:solidFill>
              <a:effectLst/>
            </c:spPr>
          </c:dPt>
          <c:dPt>
            <c:idx val="3"/>
            <c:invertIfNegative val="0"/>
            <c:bubble3D val="0"/>
            <c:spPr>
              <a:solidFill>
                <a:srgbClr val="D99A8E"/>
              </a:solidFill>
              <a:effectLst/>
            </c:spPr>
          </c:dPt>
          <c:dPt>
            <c:idx val="4"/>
            <c:invertIfNegative val="0"/>
            <c:bubble3D val="0"/>
            <c:spPr>
              <a:solidFill>
                <a:srgbClr val="E8C4BB"/>
              </a:solidFill>
              <a:effectLst/>
            </c:spPr>
          </c:dPt>
          <c:cat>
            <c:multiLvlStrRef>
              <c:f>Sheet1!$A$2:$A$6</c:f>
              <c:multiLvlStrCache>
                <c:ptCount val="5"/>
                <c:lvl>
                  <c:pt idx="0">
                    <c:v>Acquisition</c:v>
                  </c:pt>
                  <c:pt idx="1">
                    <c:v>Developing</c:v>
                  </c:pt>
                  <c:pt idx="2">
                    <c:v>Early repeat</c:v>
                  </c:pt>
                  <c:pt idx="3">
                    <c:v>7–12 months</c:v>
                  </c:pt>
                  <c:pt idx="4">
                    <c:v>13–18 months</c:v>
                  </c:pt>
                </c:lvl>
              </c:multiLvlStrCache>
            </c:multiLvlStrRef>
          </c:cat>
          <c:val>
            <c:numRef>
              <c:f>Sheet1!$B$2:$B$6</c:f>
              <c:numCache>
                <c:formatCode>General</c:formatCode>
                <c:ptCount val="5"/>
                <c:pt idx="0">
                  <c:v>2200</c:v>
                </c:pt>
                <c:pt idx="1">
                  <c:v>900</c:v>
                </c:pt>
                <c:pt idx="2">
                  <c:v>1200</c:v>
                </c:pt>
                <c:pt idx="3">
                  <c:v>700</c:v>
                </c:pt>
                <c:pt idx="4">
                  <c:v>100</c:v>
                </c:pt>
              </c:numCache>
            </c:numRef>
          </c:val>
        </c:ser>
        <c:dLbls>
          <c:numFmt formatCode="#,##0" sourceLinked="0"/>
          <c:txPr>
            <a:bodyPr/>
            <a:lstStyle/>
            <a:p>
              <a:pPr>
                <a:defRPr b="0" i="0" strike="noStrike" sz="1200" u="none">
                  <a:solidFill>
                    <a:srgbClr val="2B1B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1B17"/>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1B1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covering the three pages of the Marketing &amp; Customer Acquisition Power BI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headlines: spend concentration, promotion margin erosion, and value concentration in a minority of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dashboard page has a guiding question and a primary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theme: where customers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metrics: marketing cost / acquired customers and contribution margin / acquired customers, per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2025 is about 23% below Q3 2025 (680 vs 880); confirm whether this is seasonality or incomplete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theme: which campaigns generate commercial value. Four campaign values are read from charts (marked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Promoted-sales margin derived: (127.65K - 59.91K) / (640.42K - 235.55K) = 16.7%. No promotion = 36.8% of net sales and 46.9% of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ratios are derived: contribution margin divided by campaign marketing cost. Bundle &amp; Save 21,225 / 2,496 =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theme: what kind of customers we acquire, how valuable they are and how value changes over time. Segment margin % is derived (contribution margin / net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Shares computed from the Customer Segment Distribution table. Segment contribution margin totals €127.65K.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values are rounded to the nearest 100 as shown on the dashboard. Channel shares derived from the heatmap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Email/CRM VIP attribution may reflect existing customers being emailed; validate with first-touch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Pages: 1 = Acquisition Overview, 2 = Campaign Performance, 3 = Customer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quick wins are 2 and 5; 1, 3 and 4 need cross-team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these to stakeholders so conclusions are not over-read.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76656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64008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6"/>
                </a:solidFill>
              </a:rPr>
              <a:t>Marketing &amp; Customer Acquisition  ·  Power BI analysis report</a:t>
            </a:r>
            <a:endParaRPr lang="en-US" sz="10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ubble"/>
          <p:cNvSpPr/>
          <p:nvPr/>
        </p:nvSpPr>
        <p:spPr>
          <a:xfrm>
            <a:off x="7772400" y="1463040"/>
            <a:ext cx="3474720" cy="3474720"/>
          </a:xfrm>
          <a:prstGeom prst="ellipse">
            <a:avLst/>
          </a:prstGeom>
          <a:solidFill>
            <a:schemeClr val="accent2">
              <a:alpha val="30000"/>
            </a:schemeClr>
          </a:solidFill>
          <a:ln w="12700">
            <a:solidFill>
              <a:schemeClr val="tx2"/>
            </a:solidFill>
            <a:prstDash val="solid"/>
          </a:ln>
        </p:spPr>
      </p:sp>
      <p:sp>
        <p:nvSpPr>
          <p:cNvPr id="3" name="Bubble"/>
          <p:cNvSpPr/>
          <p:nvPr/>
        </p:nvSpPr>
        <p:spPr>
          <a:xfrm>
            <a:off x="7269480" y="228600"/>
            <a:ext cx="1737360" cy="1737360"/>
          </a:xfrm>
          <a:prstGeom prst="ellipse">
            <a:avLst/>
          </a:prstGeom>
          <a:solidFill>
            <a:schemeClr val="accent3">
              <a:alpha val="45000"/>
            </a:schemeClr>
          </a:solidFill>
          <a:ln w="12700">
            <a:solidFill>
              <a:schemeClr val="tx2"/>
            </a:solidFill>
            <a:prstDash val="solid"/>
          </a:ln>
        </p:spPr>
      </p:sp>
      <p:sp>
        <p:nvSpPr>
          <p:cNvPr id="4" name="Bubble"/>
          <p:cNvSpPr/>
          <p:nvPr/>
        </p:nvSpPr>
        <p:spPr>
          <a:xfrm>
            <a:off x="10241280" y="182880"/>
            <a:ext cx="1280160" cy="1280160"/>
          </a:xfrm>
          <a:prstGeom prst="ellipse">
            <a:avLst/>
          </a:prstGeom>
          <a:solidFill>
            <a:schemeClr val="accent2">
              <a:alpha val="40000"/>
            </a:schemeClr>
          </a:solidFill>
          <a:ln w="12700">
            <a:solidFill>
              <a:schemeClr val="tx2"/>
            </a:solidFill>
            <a:prstDash val="solid"/>
          </a:ln>
        </p:spPr>
      </p:sp>
      <p:sp>
        <p:nvSpPr>
          <p:cNvPr id="5" name="Bubble"/>
          <p:cNvSpPr/>
          <p:nvPr/>
        </p:nvSpPr>
        <p:spPr>
          <a:xfrm>
            <a:off x="7772400" y="4114800"/>
            <a:ext cx="1463040" cy="1463040"/>
          </a:xfrm>
          <a:prstGeom prst="ellipse">
            <a:avLst/>
          </a:prstGeom>
          <a:solidFill>
            <a:schemeClr val="accent3">
              <a:alpha val="38000"/>
            </a:schemeClr>
          </a:solidFill>
          <a:ln w="12700">
            <a:solidFill>
              <a:schemeClr val="tx2"/>
            </a:solidFill>
            <a:prstDash val="solid"/>
          </a:ln>
        </p:spPr>
      </p:sp>
      <p:sp>
        <p:nvSpPr>
          <p:cNvPr id="6" name="Bubble"/>
          <p:cNvSpPr/>
          <p:nvPr/>
        </p:nvSpPr>
        <p:spPr>
          <a:xfrm>
            <a:off x="10561320" y="4617720"/>
            <a:ext cx="1005840" cy="1005840"/>
          </a:xfrm>
          <a:prstGeom prst="ellipse">
            <a:avLst/>
          </a:prstGeom>
          <a:solidFill>
            <a:schemeClr val="accent2">
              <a:alpha val="50000"/>
            </a:schemeClr>
          </a:solidFill>
          <a:ln w="12700">
            <a:solidFill>
              <a:schemeClr val="tx2"/>
            </a:solidFill>
            <a:prstDash val="solid"/>
          </a:ln>
        </p:spPr>
      </p:sp>
      <p:sp>
        <p:nvSpPr>
          <p:cNvPr id="7" name="Text 0"/>
          <p:cNvSpPr/>
          <p:nvPr>
            <p:ph idx="100" type="title" hasCustomPrompt="1"/>
          </p:nvPr>
        </p:nvSpPr>
        <p:spPr>
          <a:xfrm>
            <a:off x="731520" y="1554480"/>
            <a:ext cx="6766560" cy="1920240"/>
          </a:xfrm>
          <a:prstGeom prst="rect">
            <a:avLst/>
          </a:prstGeom>
          <a:noFill/>
          <a:ln/>
        </p:spPr>
        <p:txBody>
          <a:bodyPr wrap="square" lIns="0" tIns="0" rIns="0" bIns="0" rtlCol="0" anchor="b"/>
          <a:lstStyle/>
          <a:p>
            <a:pPr algn="l" indent="0" marL="0">
              <a:buNone/>
            </a:pPr>
            <a:r>
              <a:rPr lang="en-US" sz="4400" b="1" dirty="0">
                <a:solidFill>
                  <a:schemeClr val="bg1"/>
                </a:solidFill>
              </a:rPr>
              <a:t>Marketing &amp; Customer Acquisition</a:t>
            </a:r>
            <a:endParaRPr lang="en-US" sz="4400" dirty="0"/>
          </a:p>
        </p:txBody>
      </p:sp>
      <p:sp>
        <p:nvSpPr>
          <p:cNvPr id="8" name="Text 0"/>
          <p:cNvSpPr/>
          <p:nvPr>
            <p:ph idx="101" type="body" hasCustomPrompt="1"/>
          </p:nvPr>
        </p:nvSpPr>
        <p:spPr>
          <a:xfrm>
            <a:off x="731520" y="3657600"/>
            <a:ext cx="6400800" cy="914400"/>
          </a:xfrm>
          <a:prstGeom prst="rect">
            <a:avLst/>
          </a:prstGeom>
          <a:noFill/>
          <a:ln/>
        </p:spPr>
        <p:txBody>
          <a:bodyPr wrap="square" lIns="0" tIns="0" rIns="0" bIns="0" rtlCol="0" anchor="t"/>
          <a:lstStyle/>
          <a:p>
            <a:pPr indent="0" marL="0">
              <a:buNone/>
            </a:pPr>
            <a:r>
              <a:rPr lang="en-US" sz="1800" dirty="0">
                <a:solidFill>
                  <a:schemeClr val="bg2"/>
                </a:solidFill>
              </a:rPr>
              <a:t>Power BI analysis report: findings page by page, the business questions each visual answers, and the scenarios each stakeholder can act on</a:t>
            </a:r>
            <a:endParaRPr lang="en-US" sz="1800" dirty="0"/>
          </a:p>
        </p:txBody>
      </p:sp>
      <p:sp>
        <p:nvSpPr>
          <p:cNvPr id="9" name="Pill"/>
          <p:cNvSpPr/>
          <p:nvPr/>
        </p:nvSpPr>
        <p:spPr>
          <a:xfrm>
            <a:off x="731520" y="4983480"/>
            <a:ext cx="2103120" cy="411480"/>
          </a:xfrm>
          <a:prstGeom prst="roundRect">
            <a:avLst>
              <a:gd name="adj" fmla="val 44444"/>
            </a:avLst>
          </a:prstGeom>
          <a:solidFill>
            <a:schemeClr val="tx2"/>
          </a:solidFill>
          <a:ln w="12700">
            <a:solidFill>
              <a:schemeClr val="bg2"/>
            </a:solidFill>
            <a:prstDash val="solid"/>
          </a:ln>
        </p:spPr>
      </p:sp>
      <p:sp>
        <p:nvSpPr>
          <p:cNvPr id="10" name="Text 8"/>
          <p:cNvSpPr txBox="1"/>
          <p:nvPr/>
        </p:nvSpPr>
        <p:spPr>
          <a:xfrm>
            <a:off x="731520" y="4983480"/>
            <a:ext cx="2103120" cy="411480"/>
          </a:xfrm>
          <a:prstGeom prst="rect">
            <a:avLst/>
          </a:prstGeom>
          <a:noFill/>
          <a:ln/>
        </p:spPr>
        <p:txBody>
          <a:bodyPr wrap="square" lIns="0" tIns="0" rIns="0" bIns="0" rtlCol="0" anchor="ctr"/>
          <a:lstStyle/>
          <a:p>
            <a:pPr algn="ctr" indent="0" marL="0">
              <a:buNone/>
            </a:pPr>
            <a:r>
              <a:rPr lang="en-US" sz="1200" dirty="0">
                <a:solidFill>
                  <a:schemeClr val="bg2"/>
                </a:solidFill>
              </a:rPr>
              <a:t>Acquisition Overview</a:t>
            </a:r>
            <a:endParaRPr lang="en-US" sz="1200" dirty="0"/>
          </a:p>
        </p:txBody>
      </p:sp>
      <p:sp>
        <p:nvSpPr>
          <p:cNvPr id="11" name="Pill"/>
          <p:cNvSpPr/>
          <p:nvPr/>
        </p:nvSpPr>
        <p:spPr>
          <a:xfrm>
            <a:off x="2971800" y="4983480"/>
            <a:ext cx="2103120" cy="411480"/>
          </a:xfrm>
          <a:prstGeom prst="roundRect">
            <a:avLst>
              <a:gd name="adj" fmla="val 44444"/>
            </a:avLst>
          </a:prstGeom>
          <a:solidFill>
            <a:schemeClr val="tx2"/>
          </a:solidFill>
          <a:ln w="12700">
            <a:solidFill>
              <a:schemeClr val="bg2"/>
            </a:solidFill>
            <a:prstDash val="solid"/>
          </a:ln>
        </p:spPr>
      </p:sp>
      <p:sp>
        <p:nvSpPr>
          <p:cNvPr id="12" name="Text 10"/>
          <p:cNvSpPr txBox="1"/>
          <p:nvPr/>
        </p:nvSpPr>
        <p:spPr>
          <a:xfrm>
            <a:off x="2971800" y="4983480"/>
            <a:ext cx="2103120" cy="411480"/>
          </a:xfrm>
          <a:prstGeom prst="rect">
            <a:avLst/>
          </a:prstGeom>
          <a:noFill/>
          <a:ln/>
        </p:spPr>
        <p:txBody>
          <a:bodyPr wrap="square" lIns="0" tIns="0" rIns="0" bIns="0" rtlCol="0" anchor="ctr"/>
          <a:lstStyle/>
          <a:p>
            <a:pPr algn="ctr" indent="0" marL="0">
              <a:buNone/>
            </a:pPr>
            <a:r>
              <a:rPr lang="en-US" sz="1200" dirty="0">
                <a:solidFill>
                  <a:schemeClr val="bg2"/>
                </a:solidFill>
              </a:rPr>
              <a:t>Campaign Performance</a:t>
            </a:r>
            <a:endParaRPr lang="en-US" sz="1200" dirty="0"/>
          </a:p>
        </p:txBody>
      </p:sp>
      <p:sp>
        <p:nvSpPr>
          <p:cNvPr id="13" name="Pill"/>
          <p:cNvSpPr/>
          <p:nvPr/>
        </p:nvSpPr>
        <p:spPr>
          <a:xfrm>
            <a:off x="5212080" y="4983480"/>
            <a:ext cx="2103120" cy="411480"/>
          </a:xfrm>
          <a:prstGeom prst="roundRect">
            <a:avLst>
              <a:gd name="adj" fmla="val 44444"/>
            </a:avLst>
          </a:prstGeom>
          <a:solidFill>
            <a:schemeClr val="tx2"/>
          </a:solidFill>
          <a:ln w="12700">
            <a:solidFill>
              <a:schemeClr val="bg2"/>
            </a:solidFill>
            <a:prstDash val="solid"/>
          </a:ln>
        </p:spPr>
      </p:sp>
      <p:sp>
        <p:nvSpPr>
          <p:cNvPr id="14" name="Text 12"/>
          <p:cNvSpPr txBox="1"/>
          <p:nvPr/>
        </p:nvSpPr>
        <p:spPr>
          <a:xfrm>
            <a:off x="5212080" y="4983480"/>
            <a:ext cx="2103120" cy="411480"/>
          </a:xfrm>
          <a:prstGeom prst="rect">
            <a:avLst/>
          </a:prstGeom>
          <a:noFill/>
          <a:ln/>
        </p:spPr>
        <p:txBody>
          <a:bodyPr wrap="square" lIns="0" tIns="0" rIns="0" bIns="0" rtlCol="0" anchor="ctr"/>
          <a:lstStyle/>
          <a:p>
            <a:pPr algn="ctr" indent="0" marL="0">
              <a:buNone/>
            </a:pPr>
            <a:r>
              <a:rPr lang="en-US" sz="1200" dirty="0">
                <a:solidFill>
                  <a:schemeClr val="bg2"/>
                </a:solidFill>
              </a:rPr>
              <a:t>Customer Value</a:t>
            </a:r>
            <a:endParaRPr lang="en-US" sz="1200" dirty="0"/>
          </a:p>
        </p:txBody>
      </p:sp>
      <p:sp>
        <p:nvSpPr>
          <p:cNvPr id="15" name="Text 13"/>
          <p:cNvSpPr txBox="1"/>
          <p:nvPr/>
        </p:nvSpPr>
        <p:spPr>
          <a:xfrm>
            <a:off x="731520" y="5943600"/>
            <a:ext cx="6400800" cy="320040"/>
          </a:xfrm>
          <a:prstGeom prst="rect">
            <a:avLst/>
          </a:prstGeom>
          <a:noFill/>
          <a:ln/>
        </p:spPr>
        <p:txBody>
          <a:bodyPr wrap="square" lIns="0" tIns="0" rIns="0" bIns="0" rtlCol="0" anchor="t"/>
          <a:lstStyle/>
          <a:p>
            <a:pPr indent="0" marL="0">
              <a:buNone/>
            </a:pPr>
            <a:r>
              <a:rPr lang="en-US" sz="1400" dirty="0">
                <a:solidFill>
                  <a:schemeClr val="bg2"/>
                </a:solidFill>
              </a:rPr>
              <a:t>Samuel Sholademi  ·  Data Analyst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OVERVIEW</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Executive summary</a:t>
            </a:r>
            <a:endParaRPr lang="en-US" sz="3200" dirty="0"/>
          </a:p>
        </p:txBody>
      </p:sp>
      <p:sp>
        <p:nvSpPr>
          <p:cNvPr id="5" name="Card"/>
          <p:cNvSpPr/>
          <p:nvPr/>
        </p:nvSpPr>
        <p:spPr>
          <a:xfrm>
            <a:off x="548640" y="1508760"/>
            <a:ext cx="2103120"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Text 3"/>
          <p:cNvSpPr txBox="1"/>
          <p:nvPr/>
        </p:nvSpPr>
        <p:spPr>
          <a:xfrm>
            <a:off x="685800" y="1764792"/>
            <a:ext cx="1828800" cy="50292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€640.42K</a:t>
            </a:r>
            <a:endParaRPr lang="en-US" sz="2800" dirty="0"/>
          </a:p>
        </p:txBody>
      </p:sp>
      <p:sp>
        <p:nvSpPr>
          <p:cNvPr id="7" name="Text 4"/>
          <p:cNvSpPr txBox="1"/>
          <p:nvPr/>
        </p:nvSpPr>
        <p:spPr>
          <a:xfrm>
            <a:off x="685800" y="2331720"/>
            <a:ext cx="1828800" cy="411480"/>
          </a:xfrm>
          <a:prstGeom prst="rect">
            <a:avLst/>
          </a:prstGeom>
          <a:noFill/>
          <a:ln/>
        </p:spPr>
        <p:txBody>
          <a:bodyPr wrap="square" lIns="0" tIns="0" rIns="0" bIns="0" rtlCol="0" anchor="t"/>
          <a:lstStyle/>
          <a:p>
            <a:pPr algn="ctr" indent="0" marL="0">
              <a:buNone/>
            </a:pPr>
            <a:r>
              <a:rPr lang="en-US" sz="1200" dirty="0">
                <a:solidFill>
                  <a:schemeClr val="accent6"/>
                </a:solidFill>
              </a:rPr>
              <a:t>Net sales</a:t>
            </a:r>
            <a:endParaRPr lang="en-US" sz="1200" dirty="0"/>
          </a:p>
        </p:txBody>
      </p:sp>
      <p:sp>
        <p:nvSpPr>
          <p:cNvPr id="8" name="Card"/>
          <p:cNvSpPr/>
          <p:nvPr/>
        </p:nvSpPr>
        <p:spPr>
          <a:xfrm>
            <a:off x="2834640" y="1508760"/>
            <a:ext cx="2103120"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2971800" y="1764792"/>
            <a:ext cx="1828800" cy="50292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19.93%</a:t>
            </a:r>
            <a:endParaRPr lang="en-US" sz="2800" dirty="0"/>
          </a:p>
        </p:txBody>
      </p:sp>
      <p:sp>
        <p:nvSpPr>
          <p:cNvPr id="10" name="Text 7"/>
          <p:cNvSpPr txBox="1"/>
          <p:nvPr/>
        </p:nvSpPr>
        <p:spPr>
          <a:xfrm>
            <a:off x="2971800" y="2331720"/>
            <a:ext cx="1828800" cy="411480"/>
          </a:xfrm>
          <a:prstGeom prst="rect">
            <a:avLst/>
          </a:prstGeom>
          <a:noFill/>
          <a:ln/>
        </p:spPr>
        <p:txBody>
          <a:bodyPr wrap="square" lIns="0" tIns="0" rIns="0" bIns="0" rtlCol="0" anchor="t"/>
          <a:lstStyle/>
          <a:p>
            <a:pPr algn="ctr" indent="0" marL="0">
              <a:buNone/>
            </a:pPr>
            <a:r>
              <a:rPr lang="en-US" sz="1200" dirty="0">
                <a:solidFill>
                  <a:schemeClr val="accent6"/>
                </a:solidFill>
              </a:rPr>
              <a:t>Contribution margin</a:t>
            </a:r>
            <a:endParaRPr lang="en-US" sz="1200" dirty="0"/>
          </a:p>
        </p:txBody>
      </p:sp>
      <p:sp>
        <p:nvSpPr>
          <p:cNvPr id="11" name="Card"/>
          <p:cNvSpPr/>
          <p:nvPr/>
        </p:nvSpPr>
        <p:spPr>
          <a:xfrm>
            <a:off x="548640" y="3063240"/>
            <a:ext cx="2103120"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2" name="Text 9"/>
          <p:cNvSpPr txBox="1"/>
          <p:nvPr/>
        </p:nvSpPr>
        <p:spPr>
          <a:xfrm>
            <a:off x="685800" y="3319272"/>
            <a:ext cx="1828800" cy="50292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2,200</a:t>
            </a:r>
            <a:endParaRPr lang="en-US" sz="2800" dirty="0"/>
          </a:p>
        </p:txBody>
      </p:sp>
      <p:sp>
        <p:nvSpPr>
          <p:cNvPr id="13" name="Text 10"/>
          <p:cNvSpPr txBox="1"/>
          <p:nvPr/>
        </p:nvSpPr>
        <p:spPr>
          <a:xfrm>
            <a:off x="685800" y="3886200"/>
            <a:ext cx="1828800" cy="411480"/>
          </a:xfrm>
          <a:prstGeom prst="rect">
            <a:avLst/>
          </a:prstGeom>
          <a:noFill/>
          <a:ln/>
        </p:spPr>
        <p:txBody>
          <a:bodyPr wrap="square" lIns="0" tIns="0" rIns="0" bIns="0" rtlCol="0" anchor="t"/>
          <a:lstStyle/>
          <a:p>
            <a:pPr algn="ctr" indent="0" marL="0">
              <a:buNone/>
            </a:pPr>
            <a:r>
              <a:rPr lang="en-US" sz="1200" dirty="0">
                <a:solidFill>
                  <a:schemeClr val="accent6"/>
                </a:solidFill>
              </a:rPr>
              <a:t>Customers acquired</a:t>
            </a:r>
            <a:endParaRPr lang="en-US" sz="1200" dirty="0"/>
          </a:p>
        </p:txBody>
      </p:sp>
      <p:sp>
        <p:nvSpPr>
          <p:cNvPr id="14" name="Card"/>
          <p:cNvSpPr/>
          <p:nvPr/>
        </p:nvSpPr>
        <p:spPr>
          <a:xfrm>
            <a:off x="2834640" y="3063240"/>
            <a:ext cx="2103120" cy="137160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5" name="Text 12"/>
          <p:cNvSpPr txBox="1"/>
          <p:nvPr/>
        </p:nvSpPr>
        <p:spPr>
          <a:xfrm>
            <a:off x="2971800" y="3319272"/>
            <a:ext cx="1828800" cy="502920"/>
          </a:xfrm>
          <a:prstGeom prst="rect">
            <a:avLst/>
          </a:prstGeom>
          <a:noFill/>
          <a:ln/>
        </p:spPr>
        <p:txBody>
          <a:bodyPr wrap="square" lIns="0" tIns="0" rIns="0" bIns="0" rtlCol="0" anchor="t"/>
          <a:lstStyle/>
          <a:p>
            <a:pPr algn="ctr" indent="0" marL="0">
              <a:buNone/>
            </a:pPr>
            <a:r>
              <a:rPr lang="en-US" sz="2800" b="1" dirty="0">
                <a:solidFill>
                  <a:schemeClr val="accent1"/>
                </a:solidFill>
                <a:latin typeface="Cambria" pitchFamily="34" charset="0"/>
                <a:ea typeface="Cambria" pitchFamily="34" charset="-122"/>
                <a:cs typeface="Cambria" pitchFamily="34" charset="-120"/>
              </a:rPr>
              <a:t>€13.58</a:t>
            </a:r>
            <a:endParaRPr lang="en-US" sz="2800" dirty="0"/>
          </a:p>
        </p:txBody>
      </p:sp>
      <p:sp>
        <p:nvSpPr>
          <p:cNvPr id="16" name="Text 13"/>
          <p:cNvSpPr txBox="1"/>
          <p:nvPr/>
        </p:nvSpPr>
        <p:spPr>
          <a:xfrm>
            <a:off x="2971800" y="3886200"/>
            <a:ext cx="1828800" cy="411480"/>
          </a:xfrm>
          <a:prstGeom prst="rect">
            <a:avLst/>
          </a:prstGeom>
          <a:noFill/>
          <a:ln/>
        </p:spPr>
        <p:txBody>
          <a:bodyPr wrap="square" lIns="0" tIns="0" rIns="0" bIns="0" rtlCol="0" anchor="t"/>
          <a:lstStyle/>
          <a:p>
            <a:pPr algn="ctr" indent="0" marL="0">
              <a:buNone/>
            </a:pPr>
            <a:r>
              <a:rPr lang="en-US" sz="1200" dirty="0">
                <a:solidFill>
                  <a:schemeClr val="accent6"/>
                </a:solidFill>
              </a:rPr>
              <a:t>Marketing cost per customer</a:t>
            </a:r>
            <a:endParaRPr lang="en-US" sz="1200" dirty="0"/>
          </a:p>
        </p:txBody>
      </p:sp>
      <p:sp>
        <p:nvSpPr>
          <p:cNvPr id="17" name="BottomLine"/>
          <p:cNvSpPr/>
          <p:nvPr/>
        </p:nvSpPr>
        <p:spPr>
          <a:xfrm>
            <a:off x="548640" y="4663440"/>
            <a:ext cx="4389120" cy="1463040"/>
          </a:xfrm>
          <a:prstGeom prst="roundRect">
            <a:avLst>
              <a:gd name="adj" fmla="val 6250"/>
            </a:avLst>
          </a:prstGeom>
          <a:solidFill>
            <a:schemeClr val="tx2"/>
          </a:solidFill>
          <a:ln w="12700">
            <a:solidFill>
              <a:schemeClr val="tx2"/>
            </a:solidFill>
            <a:prstDash val="solid"/>
          </a:ln>
        </p:spPr>
      </p:sp>
      <p:sp>
        <p:nvSpPr>
          <p:cNvPr id="18" name="Text 15"/>
          <p:cNvSpPr txBox="1"/>
          <p:nvPr/>
        </p:nvSpPr>
        <p:spPr>
          <a:xfrm>
            <a:off x="777240" y="4846320"/>
            <a:ext cx="3931920" cy="1097280"/>
          </a:xfrm>
          <a:prstGeom prst="rect">
            <a:avLst/>
          </a:prstGeom>
          <a:noFill/>
          <a:ln/>
        </p:spPr>
        <p:txBody>
          <a:bodyPr wrap="square" lIns="0" tIns="0" rIns="0" bIns="0" rtlCol="0" anchor="ctr"/>
          <a:lstStyle/>
          <a:p>
            <a:pPr indent="0" marL="0">
              <a:buNone/>
            </a:pPr>
            <a:r>
              <a:rPr lang="en-US" sz="1400" b="1" dirty="0">
                <a:solidFill>
                  <a:schemeClr val="accent3"/>
                </a:solidFill>
              </a:rPr>
              <a:t>Bottom line  </a:t>
            </a:r>
            <a:pPr indent="0" marL="0">
              <a:buNone/>
            </a:pPr>
            <a:r>
              <a:rPr lang="en-US" sz="1400" dirty="0">
                <a:solidFill>
                  <a:schemeClr val="bg1"/>
                </a:solidFill>
              </a:rPr>
              <a:t>Grow profitably by re-weighting spend to high-yield channels, adding margin guardrails to promotions, and protecting the customers who generate most of the margin.</a:t>
            </a:r>
            <a:endParaRPr lang="en-US" sz="1400" dirty="0"/>
          </a:p>
        </p:txBody>
      </p:sp>
      <p:sp>
        <p:nvSpPr>
          <p:cNvPr id="19" name="Card"/>
          <p:cNvSpPr/>
          <p:nvPr/>
        </p:nvSpPr>
        <p:spPr>
          <a:xfrm>
            <a:off x="5303520" y="1508760"/>
            <a:ext cx="6309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0" name="NumCircle"/>
          <p:cNvSpPr/>
          <p:nvPr/>
        </p:nvSpPr>
        <p:spPr>
          <a:xfrm>
            <a:off x="5532120" y="1920240"/>
            <a:ext cx="594360" cy="594360"/>
          </a:xfrm>
          <a:prstGeom prst="ellipse">
            <a:avLst/>
          </a:prstGeom>
          <a:solidFill>
            <a:schemeClr val="accent1"/>
          </a:solidFill>
          <a:ln w="12700">
            <a:solidFill>
              <a:schemeClr val="accent1"/>
            </a:solidFill>
            <a:prstDash val="solid"/>
          </a:ln>
        </p:spPr>
      </p:sp>
      <p:sp>
        <p:nvSpPr>
          <p:cNvPr id="21" name="Text 18"/>
          <p:cNvSpPr txBox="1"/>
          <p:nvPr/>
        </p:nvSpPr>
        <p:spPr>
          <a:xfrm>
            <a:off x="5532120" y="19202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22" name="Text 19"/>
          <p:cNvSpPr txBox="1"/>
          <p:nvPr/>
        </p:nvSpPr>
        <p:spPr>
          <a:xfrm>
            <a:off x="6355080" y="1691640"/>
            <a:ext cx="502920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Spend is concentrated where value is lowest</a:t>
            </a:r>
            <a:endParaRPr lang="en-US" sz="1700" dirty="0"/>
          </a:p>
        </p:txBody>
      </p:sp>
      <p:sp>
        <p:nvSpPr>
          <p:cNvPr id="23" name="Text 20"/>
          <p:cNvSpPr txBox="1"/>
          <p:nvPr/>
        </p:nvSpPr>
        <p:spPr>
          <a:xfrm>
            <a:off x="6355080" y="2075688"/>
            <a:ext cx="5029200" cy="731520"/>
          </a:xfrm>
          <a:prstGeom prst="rect">
            <a:avLst/>
          </a:prstGeom>
          <a:noFill/>
          <a:ln/>
        </p:spPr>
        <p:txBody>
          <a:bodyPr wrap="square" lIns="0" tIns="0" rIns="0" bIns="0" rtlCol="0" anchor="t"/>
          <a:lstStyle/>
          <a:p>
            <a:pPr indent="0" marL="0">
              <a:buNone/>
            </a:pPr>
            <a:r>
              <a:rPr lang="en-US" sz="1400" dirty="0">
                <a:solidFill>
                  <a:schemeClr val="tx1"/>
                </a:solidFill>
              </a:rPr>
              <a:t>Paid Social takes 52% of marketing cost but delivers 14% of contribution margin and only 8 of 131 VIPs.</a:t>
            </a:r>
            <a:endParaRPr lang="en-US" sz="1400" dirty="0"/>
          </a:p>
        </p:txBody>
      </p:sp>
      <p:sp>
        <p:nvSpPr>
          <p:cNvPr id="24" name="Card"/>
          <p:cNvSpPr/>
          <p:nvPr/>
        </p:nvSpPr>
        <p:spPr>
          <a:xfrm>
            <a:off x="5303520" y="3108960"/>
            <a:ext cx="6309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5" name="NumCircle"/>
          <p:cNvSpPr/>
          <p:nvPr/>
        </p:nvSpPr>
        <p:spPr>
          <a:xfrm>
            <a:off x="5532120" y="3520440"/>
            <a:ext cx="594360" cy="594360"/>
          </a:xfrm>
          <a:prstGeom prst="ellipse">
            <a:avLst/>
          </a:prstGeom>
          <a:solidFill>
            <a:schemeClr val="accent1"/>
          </a:solidFill>
          <a:ln w="12700">
            <a:solidFill>
              <a:schemeClr val="accent1"/>
            </a:solidFill>
            <a:prstDash val="solid"/>
          </a:ln>
        </p:spPr>
      </p:sp>
      <p:sp>
        <p:nvSpPr>
          <p:cNvPr id="26" name="Text 23"/>
          <p:cNvSpPr txBox="1"/>
          <p:nvPr/>
        </p:nvSpPr>
        <p:spPr>
          <a:xfrm>
            <a:off x="5532120" y="35204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7" name="Text 24"/>
          <p:cNvSpPr txBox="1"/>
          <p:nvPr/>
        </p:nvSpPr>
        <p:spPr>
          <a:xfrm>
            <a:off x="6355080" y="3291840"/>
            <a:ext cx="502920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Discounts buy volume at the expense of margin</a:t>
            </a:r>
            <a:endParaRPr lang="en-US" sz="1700" dirty="0"/>
          </a:p>
        </p:txBody>
      </p:sp>
      <p:sp>
        <p:nvSpPr>
          <p:cNvPr id="28" name="Text 25"/>
          <p:cNvSpPr txBox="1"/>
          <p:nvPr/>
        </p:nvSpPr>
        <p:spPr>
          <a:xfrm>
            <a:off x="6355080" y="3675888"/>
            <a:ext cx="5029200" cy="731520"/>
          </a:xfrm>
          <a:prstGeom prst="rect">
            <a:avLst/>
          </a:prstGeom>
          <a:noFill/>
          <a:ln/>
        </p:spPr>
        <p:txBody>
          <a:bodyPr wrap="square" lIns="0" tIns="0" rIns="0" bIns="0" rtlCol="0" anchor="t"/>
          <a:lstStyle/>
          <a:p>
            <a:pPr indent="0" marL="0">
              <a:buNone/>
            </a:pPr>
            <a:r>
              <a:rPr lang="en-US" sz="1400" dirty="0">
                <a:solidFill>
                  <a:schemeClr val="tx1"/>
                </a:solidFill>
              </a:rPr>
              <a:t>Promoted sales earn 16.7% margin vs 25.4% with no promotion, and Clearance 35% loses €2.8K.</a:t>
            </a:r>
            <a:endParaRPr lang="en-US" sz="1400" dirty="0"/>
          </a:p>
        </p:txBody>
      </p:sp>
      <p:sp>
        <p:nvSpPr>
          <p:cNvPr id="29" name="Card"/>
          <p:cNvSpPr/>
          <p:nvPr/>
        </p:nvSpPr>
        <p:spPr>
          <a:xfrm>
            <a:off x="5303520" y="4709160"/>
            <a:ext cx="6309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30" name="NumCircle"/>
          <p:cNvSpPr/>
          <p:nvPr/>
        </p:nvSpPr>
        <p:spPr>
          <a:xfrm>
            <a:off x="5532120" y="5120640"/>
            <a:ext cx="594360" cy="594360"/>
          </a:xfrm>
          <a:prstGeom prst="ellipse">
            <a:avLst/>
          </a:prstGeom>
          <a:solidFill>
            <a:schemeClr val="accent1"/>
          </a:solidFill>
          <a:ln w="12700">
            <a:solidFill>
              <a:schemeClr val="accent1"/>
            </a:solidFill>
            <a:prstDash val="solid"/>
          </a:ln>
        </p:spPr>
      </p:sp>
      <p:sp>
        <p:nvSpPr>
          <p:cNvPr id="31" name="Text 28"/>
          <p:cNvSpPr txBox="1"/>
          <p:nvPr/>
        </p:nvSpPr>
        <p:spPr>
          <a:xfrm>
            <a:off x="5532120" y="51206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2" name="Text 29"/>
          <p:cNvSpPr txBox="1"/>
          <p:nvPr/>
        </p:nvSpPr>
        <p:spPr>
          <a:xfrm>
            <a:off x="6355080" y="4892040"/>
            <a:ext cx="502920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Value sits in a small share of customers</a:t>
            </a:r>
            <a:endParaRPr lang="en-US" sz="1700" dirty="0"/>
          </a:p>
        </p:txBody>
      </p:sp>
      <p:sp>
        <p:nvSpPr>
          <p:cNvPr id="33" name="Text 30"/>
          <p:cNvSpPr txBox="1"/>
          <p:nvPr/>
        </p:nvSpPr>
        <p:spPr>
          <a:xfrm>
            <a:off x="6355080" y="5276088"/>
            <a:ext cx="5029200" cy="731520"/>
          </a:xfrm>
          <a:prstGeom prst="rect">
            <a:avLst/>
          </a:prstGeom>
          <a:noFill/>
          <a:ln/>
        </p:spPr>
        <p:txBody>
          <a:bodyPr wrap="square" lIns="0" tIns="0" rIns="0" bIns="0" rtlCol="0" anchor="t"/>
          <a:lstStyle/>
          <a:p>
            <a:pPr indent="0" marL="0">
              <a:buNone/>
            </a:pPr>
            <a:r>
              <a:rPr lang="en-US" sz="1400" dirty="0">
                <a:solidFill>
                  <a:schemeClr val="tx1"/>
                </a:solidFill>
              </a:rPr>
              <a:t>Loyal, Growth and VIP customers are 47% of the base but 73% of contribution margin.</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OVERVIEW</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Report structure and who it serves</a:t>
            </a:r>
            <a:endParaRPr lang="en-US" sz="3200" dirty="0"/>
          </a:p>
        </p:txBody>
      </p:sp>
      <p:sp>
        <p:nvSpPr>
          <p:cNvPr id="5" name="Card"/>
          <p:cNvSpPr/>
          <p:nvPr/>
        </p:nvSpPr>
        <p:spPr>
          <a:xfrm>
            <a:off x="548640" y="1508760"/>
            <a:ext cx="3547872" cy="420624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IconCircle"/>
          <p:cNvSpPr/>
          <p:nvPr/>
        </p:nvSpPr>
        <p:spPr>
          <a:xfrm>
            <a:off x="822960" y="1737360"/>
            <a:ext cx="640080" cy="64008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982980" y="1897380"/>
            <a:ext cx="320040" cy="320040"/>
          </a:xfrm>
          <a:prstGeom prst="rect">
            <a:avLst/>
          </a:prstGeom>
        </p:spPr>
      </p:pic>
      <p:sp>
        <p:nvSpPr>
          <p:cNvPr id="8" name="Text 4"/>
          <p:cNvSpPr txBox="1"/>
          <p:nvPr/>
        </p:nvSpPr>
        <p:spPr>
          <a:xfrm>
            <a:off x="1645920" y="17830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PAGE 1</a:t>
            </a:r>
            <a:endParaRPr lang="en-US" sz="1100" dirty="0"/>
          </a:p>
        </p:txBody>
      </p:sp>
      <p:sp>
        <p:nvSpPr>
          <p:cNvPr id="9" name="Text 5"/>
          <p:cNvSpPr txBox="1"/>
          <p:nvPr/>
        </p:nvSpPr>
        <p:spPr>
          <a:xfrm>
            <a:off x="1645920" y="2011680"/>
            <a:ext cx="22860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Acquisition Overview</a:t>
            </a:r>
            <a:endParaRPr lang="en-US" sz="1800" dirty="0"/>
          </a:p>
        </p:txBody>
      </p:sp>
      <p:sp>
        <p:nvSpPr>
          <p:cNvPr id="10" name="Text 6"/>
          <p:cNvSpPr txBox="1"/>
          <p:nvPr/>
        </p:nvSpPr>
        <p:spPr>
          <a:xfrm>
            <a:off x="822960" y="2834640"/>
            <a:ext cx="2999232" cy="1051560"/>
          </a:xfrm>
          <a:prstGeom prst="rect">
            <a:avLst/>
          </a:prstGeom>
          <a:noFill/>
          <a:ln/>
        </p:spPr>
        <p:txBody>
          <a:bodyPr wrap="square" lIns="0" tIns="0" rIns="0" bIns="0" rtlCol="0" anchor="t"/>
          <a:lstStyle/>
          <a:p>
            <a:pPr indent="0" marL="0">
              <a:buNone/>
            </a:pPr>
            <a:r>
              <a:rPr lang="en-US" sz="1500" i="1" dirty="0">
                <a:solidFill>
                  <a:schemeClr val="tx1"/>
                </a:solidFill>
              </a:rPr>
              <a:t>Where do customers come from?</a:t>
            </a:r>
            <a:endParaRPr lang="en-US" sz="1500" dirty="0"/>
          </a:p>
        </p:txBody>
      </p:sp>
      <p:sp>
        <p:nvSpPr>
          <p:cNvPr id="11" name="Text 7"/>
          <p:cNvSpPr txBox="1"/>
          <p:nvPr/>
        </p:nvSpPr>
        <p:spPr>
          <a:xfrm>
            <a:off x="822960" y="3931920"/>
            <a:ext cx="2999232" cy="868680"/>
          </a:xfrm>
          <a:prstGeom prst="rect">
            <a:avLst/>
          </a:prstGeom>
          <a:noFill/>
          <a:ln/>
        </p:spPr>
        <p:txBody>
          <a:bodyPr wrap="square" lIns="0" tIns="0" rIns="0" bIns="0" rtlCol="0" anchor="t"/>
          <a:lstStyle/>
          <a:p>
            <a:pPr indent="0" marL="0">
              <a:buNone/>
            </a:pPr>
            <a:r>
              <a:rPr lang="en-US" sz="1100" b="1" spc="200" kern="0" dirty="0">
                <a:solidFill>
                  <a:schemeClr val="accent1"/>
                </a:solidFill>
              </a:rPr>
              <a:t>COVERS</a:t>
            </a:r>
            <a:endParaRPr lang="en-US" sz="1400" dirty="0"/>
          </a:p>
          <a:p>
            <a:pPr indent="0" marL="0">
              <a:buNone/>
            </a:pPr>
            <a:r>
              <a:rPr lang="en-US" sz="1400" dirty="0">
                <a:solidFill>
                  <a:schemeClr val="tx1"/>
                </a:solidFill>
              </a:rPr>
              <a:t>Channel volume, cost, sales and margin, plus the quarterly customer trend.</a:t>
            </a:r>
            <a:endParaRPr lang="en-US" sz="1400" dirty="0"/>
          </a:p>
        </p:txBody>
      </p:sp>
      <p:sp>
        <p:nvSpPr>
          <p:cNvPr id="12" name="Text 8"/>
          <p:cNvSpPr txBox="1"/>
          <p:nvPr/>
        </p:nvSpPr>
        <p:spPr>
          <a:xfrm>
            <a:off x="822960" y="4846320"/>
            <a:ext cx="2999232" cy="731520"/>
          </a:xfrm>
          <a:prstGeom prst="rect">
            <a:avLst/>
          </a:prstGeom>
          <a:noFill/>
          <a:ln/>
        </p:spPr>
        <p:txBody>
          <a:bodyPr wrap="square" lIns="0" tIns="0" rIns="0" bIns="0" rtlCol="0" anchor="t"/>
          <a:lstStyle/>
          <a:p>
            <a:pPr indent="0" marL="0">
              <a:buNone/>
            </a:pPr>
            <a:r>
              <a:rPr lang="en-US" sz="1100" b="1" spc="200" kern="0" dirty="0">
                <a:solidFill>
                  <a:schemeClr val="accent1"/>
                </a:solidFill>
              </a:rPr>
              <a:t>STAKEHOLDERS</a:t>
            </a:r>
            <a:endParaRPr lang="en-US" sz="1400" dirty="0"/>
          </a:p>
          <a:p>
            <a:pPr indent="0" marL="0">
              <a:buNone/>
            </a:pPr>
            <a:r>
              <a:rPr lang="en-US" sz="1400" dirty="0">
                <a:solidFill>
                  <a:schemeClr val="tx1"/>
                </a:solidFill>
              </a:rPr>
              <a:t>CMO, Performance Marketing, Finance</a:t>
            </a:r>
            <a:endParaRPr lang="en-US" sz="1400" dirty="0"/>
          </a:p>
        </p:txBody>
      </p:sp>
      <p:sp>
        <p:nvSpPr>
          <p:cNvPr id="13" name="Card"/>
          <p:cNvSpPr/>
          <p:nvPr/>
        </p:nvSpPr>
        <p:spPr>
          <a:xfrm>
            <a:off x="4306824" y="1508760"/>
            <a:ext cx="3547872" cy="420624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IconCircle"/>
          <p:cNvSpPr/>
          <p:nvPr/>
        </p:nvSpPr>
        <p:spPr>
          <a:xfrm>
            <a:off x="4581144" y="1737360"/>
            <a:ext cx="640080" cy="640080"/>
          </a:xfrm>
          <a:prstGeom prst="ellipse">
            <a:avLst/>
          </a:prstGeom>
          <a:solidFill>
            <a:schemeClr val="accent1"/>
          </a:solidFill>
          <a:ln w="12700">
            <a:solidFill>
              <a:schemeClr val="accent1"/>
            </a:solidFill>
            <a:prstDash val="solid"/>
          </a:ln>
        </p:spPr>
      </p:sp>
      <p:pic>
        <p:nvPicPr>
          <p:cNvPr id="15" name="Image 1" descr="icon">    </p:cNvPr>
          <p:cNvPicPr>
            <a:picLocks noChangeAspect="1"/>
          </p:cNvPicPr>
          <p:nvPr/>
        </p:nvPicPr>
        <p:blipFill>
          <a:blip r:embed="rId2"/>
          <a:stretch>
            <a:fillRect/>
          </a:stretch>
        </p:blipFill>
        <p:spPr>
          <a:xfrm>
            <a:off x="4741164" y="1897380"/>
            <a:ext cx="320040" cy="320040"/>
          </a:xfrm>
          <a:prstGeom prst="rect">
            <a:avLst/>
          </a:prstGeom>
        </p:spPr>
      </p:pic>
      <p:sp>
        <p:nvSpPr>
          <p:cNvPr id="16" name="Text 11"/>
          <p:cNvSpPr txBox="1"/>
          <p:nvPr/>
        </p:nvSpPr>
        <p:spPr>
          <a:xfrm>
            <a:off x="5404104" y="17830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PAGE 2</a:t>
            </a:r>
            <a:endParaRPr lang="en-US" sz="1100" dirty="0"/>
          </a:p>
        </p:txBody>
      </p:sp>
      <p:sp>
        <p:nvSpPr>
          <p:cNvPr id="17" name="Text 12"/>
          <p:cNvSpPr txBox="1"/>
          <p:nvPr/>
        </p:nvSpPr>
        <p:spPr>
          <a:xfrm>
            <a:off x="5404104" y="2011680"/>
            <a:ext cx="22860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Campaign Performance</a:t>
            </a:r>
            <a:endParaRPr lang="en-US" sz="1800" dirty="0"/>
          </a:p>
        </p:txBody>
      </p:sp>
      <p:sp>
        <p:nvSpPr>
          <p:cNvPr id="18" name="Text 13"/>
          <p:cNvSpPr txBox="1"/>
          <p:nvPr/>
        </p:nvSpPr>
        <p:spPr>
          <a:xfrm>
            <a:off x="4581144" y="2834640"/>
            <a:ext cx="2999232" cy="1051560"/>
          </a:xfrm>
          <a:prstGeom prst="rect">
            <a:avLst/>
          </a:prstGeom>
          <a:noFill/>
          <a:ln/>
        </p:spPr>
        <p:txBody>
          <a:bodyPr wrap="square" lIns="0" tIns="0" rIns="0" bIns="0" rtlCol="0" anchor="t"/>
          <a:lstStyle/>
          <a:p>
            <a:pPr indent="0" marL="0">
              <a:buNone/>
            </a:pPr>
            <a:r>
              <a:rPr lang="en-US" sz="1500" i="1" dirty="0">
                <a:solidFill>
                  <a:schemeClr val="tx1"/>
                </a:solidFill>
              </a:rPr>
              <a:t>Which campaigns generate commercial value?</a:t>
            </a:r>
            <a:endParaRPr lang="en-US" sz="1500" dirty="0"/>
          </a:p>
        </p:txBody>
      </p:sp>
      <p:sp>
        <p:nvSpPr>
          <p:cNvPr id="19" name="Text 14"/>
          <p:cNvSpPr txBox="1"/>
          <p:nvPr/>
        </p:nvSpPr>
        <p:spPr>
          <a:xfrm>
            <a:off x="4581144" y="3931920"/>
            <a:ext cx="2999232" cy="868680"/>
          </a:xfrm>
          <a:prstGeom prst="rect">
            <a:avLst/>
          </a:prstGeom>
          <a:noFill/>
          <a:ln/>
        </p:spPr>
        <p:txBody>
          <a:bodyPr wrap="square" lIns="0" tIns="0" rIns="0" bIns="0" rtlCol="0" anchor="t"/>
          <a:lstStyle/>
          <a:p>
            <a:pPr indent="0" marL="0">
              <a:buNone/>
            </a:pPr>
            <a:r>
              <a:rPr lang="en-US" sz="1100" b="1" spc="200" kern="0" dirty="0">
                <a:solidFill>
                  <a:schemeClr val="accent1"/>
                </a:solidFill>
              </a:rPr>
              <a:t>COVERS</a:t>
            </a:r>
            <a:endParaRPr lang="en-US" sz="1400" dirty="0"/>
          </a:p>
          <a:p>
            <a:pPr indent="0" marL="0">
              <a:buNone/>
            </a:pPr>
            <a:r>
              <a:rPr lang="en-US" sz="1400" dirty="0">
                <a:solidFill>
                  <a:schemeClr val="tx1"/>
                </a:solidFill>
              </a:rPr>
              <a:t>Net sales, margin % and cost by campaign and by promotion objective.</a:t>
            </a:r>
            <a:endParaRPr lang="en-US" sz="1400" dirty="0"/>
          </a:p>
        </p:txBody>
      </p:sp>
      <p:sp>
        <p:nvSpPr>
          <p:cNvPr id="20" name="Text 15"/>
          <p:cNvSpPr txBox="1"/>
          <p:nvPr/>
        </p:nvSpPr>
        <p:spPr>
          <a:xfrm>
            <a:off x="4581144" y="4846320"/>
            <a:ext cx="2999232" cy="731520"/>
          </a:xfrm>
          <a:prstGeom prst="rect">
            <a:avLst/>
          </a:prstGeom>
          <a:noFill/>
          <a:ln/>
        </p:spPr>
        <p:txBody>
          <a:bodyPr wrap="square" lIns="0" tIns="0" rIns="0" bIns="0" rtlCol="0" anchor="t"/>
          <a:lstStyle/>
          <a:p>
            <a:pPr indent="0" marL="0">
              <a:buNone/>
            </a:pPr>
            <a:r>
              <a:rPr lang="en-US" sz="1100" b="1" spc="200" kern="0" dirty="0">
                <a:solidFill>
                  <a:schemeClr val="accent1"/>
                </a:solidFill>
              </a:rPr>
              <a:t>STAKEHOLDERS</a:t>
            </a:r>
            <a:endParaRPr lang="en-US" sz="1400" dirty="0"/>
          </a:p>
          <a:p>
            <a:pPr indent="0" marL="0">
              <a:buNone/>
            </a:pPr>
            <a:r>
              <a:rPr lang="en-US" sz="1400" dirty="0">
                <a:solidFill>
                  <a:schemeClr val="tx1"/>
                </a:solidFill>
              </a:rPr>
              <a:t>Pricing &amp; Promotions, Merchandising, Finance</a:t>
            </a:r>
            <a:endParaRPr lang="en-US" sz="1400" dirty="0"/>
          </a:p>
        </p:txBody>
      </p:sp>
      <p:sp>
        <p:nvSpPr>
          <p:cNvPr id="21" name="Card"/>
          <p:cNvSpPr/>
          <p:nvPr/>
        </p:nvSpPr>
        <p:spPr>
          <a:xfrm>
            <a:off x="8065008" y="1508760"/>
            <a:ext cx="3547872" cy="420624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2" name="IconCircle"/>
          <p:cNvSpPr/>
          <p:nvPr/>
        </p:nvSpPr>
        <p:spPr>
          <a:xfrm>
            <a:off x="8339328" y="1737360"/>
            <a:ext cx="640080" cy="640080"/>
          </a:xfrm>
          <a:prstGeom prst="ellipse">
            <a:avLst/>
          </a:prstGeom>
          <a:solidFill>
            <a:schemeClr val="accent1"/>
          </a:solidFill>
          <a:ln w="12700">
            <a:solidFill>
              <a:schemeClr val="accent1"/>
            </a:solidFill>
            <a:prstDash val="solid"/>
          </a:ln>
        </p:spPr>
      </p:sp>
      <p:pic>
        <p:nvPicPr>
          <p:cNvPr id="23" name="Image 2" descr="icon">    </p:cNvPr>
          <p:cNvPicPr>
            <a:picLocks noChangeAspect="1"/>
          </p:cNvPicPr>
          <p:nvPr/>
        </p:nvPicPr>
        <p:blipFill>
          <a:blip r:embed="rId3"/>
          <a:stretch>
            <a:fillRect/>
          </a:stretch>
        </p:blipFill>
        <p:spPr>
          <a:xfrm>
            <a:off x="8499348" y="1897380"/>
            <a:ext cx="320040" cy="320040"/>
          </a:xfrm>
          <a:prstGeom prst="rect">
            <a:avLst/>
          </a:prstGeom>
        </p:spPr>
      </p:pic>
      <p:sp>
        <p:nvSpPr>
          <p:cNvPr id="24" name="Text 18"/>
          <p:cNvSpPr txBox="1"/>
          <p:nvPr/>
        </p:nvSpPr>
        <p:spPr>
          <a:xfrm>
            <a:off x="9162288" y="1783080"/>
            <a:ext cx="219456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PAGE 3</a:t>
            </a:r>
            <a:endParaRPr lang="en-US" sz="1100" dirty="0"/>
          </a:p>
        </p:txBody>
      </p:sp>
      <p:sp>
        <p:nvSpPr>
          <p:cNvPr id="25" name="Text 19"/>
          <p:cNvSpPr txBox="1"/>
          <p:nvPr/>
        </p:nvSpPr>
        <p:spPr>
          <a:xfrm>
            <a:off x="9162288" y="2011680"/>
            <a:ext cx="22860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Customer Value</a:t>
            </a:r>
            <a:endParaRPr lang="en-US" sz="1800" dirty="0"/>
          </a:p>
        </p:txBody>
      </p:sp>
      <p:sp>
        <p:nvSpPr>
          <p:cNvPr id="26" name="Text 20"/>
          <p:cNvSpPr txBox="1"/>
          <p:nvPr/>
        </p:nvSpPr>
        <p:spPr>
          <a:xfrm>
            <a:off x="8339328" y="2834640"/>
            <a:ext cx="2999232" cy="1051560"/>
          </a:xfrm>
          <a:prstGeom prst="rect">
            <a:avLst/>
          </a:prstGeom>
          <a:noFill/>
          <a:ln/>
        </p:spPr>
        <p:txBody>
          <a:bodyPr wrap="square" lIns="0" tIns="0" rIns="0" bIns="0" rtlCol="0" anchor="t"/>
          <a:lstStyle/>
          <a:p>
            <a:pPr indent="0" marL="0">
              <a:buNone/>
            </a:pPr>
            <a:r>
              <a:rPr lang="en-US" sz="1500" i="1" dirty="0">
                <a:solidFill>
                  <a:schemeClr val="tx1"/>
                </a:solidFill>
              </a:rPr>
              <a:t>What kind of customers are we acquiring, how valuable are they, and how does their value change over time?</a:t>
            </a:r>
            <a:endParaRPr lang="en-US" sz="1500" dirty="0"/>
          </a:p>
        </p:txBody>
      </p:sp>
      <p:sp>
        <p:nvSpPr>
          <p:cNvPr id="27" name="Text 21"/>
          <p:cNvSpPr txBox="1"/>
          <p:nvPr/>
        </p:nvSpPr>
        <p:spPr>
          <a:xfrm>
            <a:off x="8339328" y="3931920"/>
            <a:ext cx="2999232" cy="868680"/>
          </a:xfrm>
          <a:prstGeom prst="rect">
            <a:avLst/>
          </a:prstGeom>
          <a:noFill/>
          <a:ln/>
        </p:spPr>
        <p:txBody>
          <a:bodyPr wrap="square" lIns="0" tIns="0" rIns="0" bIns="0" rtlCol="0" anchor="t"/>
          <a:lstStyle/>
          <a:p>
            <a:pPr indent="0" marL="0">
              <a:buNone/>
            </a:pPr>
            <a:r>
              <a:rPr lang="en-US" sz="1100" b="1" spc="200" kern="0" dirty="0">
                <a:solidFill>
                  <a:schemeClr val="accent1"/>
                </a:solidFill>
              </a:rPr>
              <a:t>COVERS</a:t>
            </a:r>
            <a:endParaRPr lang="en-US" sz="1400" dirty="0"/>
          </a:p>
          <a:p>
            <a:pPr indent="0" marL="0">
              <a:buNone/>
            </a:pPr>
            <a:r>
              <a:rPr lang="en-US" sz="1400" dirty="0">
                <a:solidFill>
                  <a:schemeClr val="tx1"/>
                </a:solidFill>
              </a:rPr>
              <a:t>Segments, lifecycle progression and the channel-by-segment mix.</a:t>
            </a:r>
            <a:endParaRPr lang="en-US" sz="1400" dirty="0"/>
          </a:p>
        </p:txBody>
      </p:sp>
      <p:sp>
        <p:nvSpPr>
          <p:cNvPr id="28" name="Text 22"/>
          <p:cNvSpPr txBox="1"/>
          <p:nvPr/>
        </p:nvSpPr>
        <p:spPr>
          <a:xfrm>
            <a:off x="8339328" y="4846320"/>
            <a:ext cx="2999232" cy="731520"/>
          </a:xfrm>
          <a:prstGeom prst="rect">
            <a:avLst/>
          </a:prstGeom>
          <a:noFill/>
          <a:ln/>
        </p:spPr>
        <p:txBody>
          <a:bodyPr wrap="square" lIns="0" tIns="0" rIns="0" bIns="0" rtlCol="0" anchor="t"/>
          <a:lstStyle/>
          <a:p>
            <a:pPr indent="0" marL="0">
              <a:buNone/>
            </a:pPr>
            <a:r>
              <a:rPr lang="en-US" sz="1100" b="1" spc="200" kern="0" dirty="0">
                <a:solidFill>
                  <a:schemeClr val="accent1"/>
                </a:solidFill>
              </a:rPr>
              <a:t>STAKEHOLDERS</a:t>
            </a:r>
            <a:endParaRPr lang="en-US" sz="1400" dirty="0"/>
          </a:p>
          <a:p>
            <a:pPr indent="0" marL="0">
              <a:buNone/>
            </a:pPr>
            <a:r>
              <a:rPr lang="en-US" sz="1400" dirty="0">
                <a:solidFill>
                  <a:schemeClr val="tx1"/>
                </a:solidFill>
              </a:rPr>
              <a:t>CRM &amp; Retention, Loyalty, Executive team</a:t>
            </a:r>
            <a:endParaRPr lang="en-US" sz="1400" dirty="0"/>
          </a:p>
        </p:txBody>
      </p:sp>
      <p:sp>
        <p:nvSpPr>
          <p:cNvPr id="29" name="Text 23"/>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Dataset in view: 2,200 customers  ·  5,873 orders  ·  €640.42K net sales  ·  €29.88K marketing cost  ·  2024–2025  ·  values in euros</a:t>
            </a:r>
            <a:endParaRPr lang="en-US" sz="12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1 · ACQUISITION OVERVIEW</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Acquisition Overview: questions answered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3474720"/>
                <a:gridCol w="4846320"/>
              </a:tblGrid>
              <a:tr h="365760">
                <a:tc>
                  <a:txBody>
                    <a:bodyPr/>
                    <a:lstStyle/>
                    <a:p>
                      <a:pPr indent="0" marL="0">
                        <a:buNone/>
                      </a:pPr>
                      <a:r>
                        <a:rPr lang="en-US" sz="1200" b="1" dirty="0">
                          <a:solidFill>
                            <a:schemeClr val="bg1"/>
                          </a:solidFill>
                        </a:rPr>
                        <a:t>Visual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Business question it answers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data shows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r>
              <a:tr h="822960">
                <a:tc>
                  <a:txBody>
                    <a:bodyPr/>
                    <a:lstStyle/>
                    <a:p>
                      <a:pPr indent="0" marL="0">
                        <a:buNone/>
                      </a:pPr>
                      <a:r>
                        <a:rPr lang="en-US" sz="1200" b="1" dirty="0">
                          <a:solidFill>
                            <a:schemeClr val="tx1"/>
                          </a:solidFill>
                        </a:rPr>
                        <a:t>KPI cards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large is acquisition, and what does it cost?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2,200 customers at €13.58 marketing cost each; €640.42K net sales; €127.65K contribution margin.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822960">
                <a:tc>
                  <a:txBody>
                    <a:bodyPr/>
                    <a:lstStyle/>
                    <a:p>
                      <a:pPr indent="0" marL="0">
                        <a:buNone/>
                      </a:pPr>
                      <a:r>
                        <a:rPr lang="en-US" sz="1200" b="1" dirty="0">
                          <a:solidFill>
                            <a:schemeClr val="tx1"/>
                          </a:solidFill>
                        </a:rPr>
                        <a:t>Total Customers by year and quarter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customer volume growing, and when does it peak or slow?</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Climbs from ~300 (Q1 2024) to ~880 (Q3 2025), then drops to ~680 in Q4 2025.</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914400">
                <a:tc>
                  <a:txBody>
                    <a:bodyPr/>
                    <a:lstStyle/>
                    <a:p>
                      <a:pPr indent="0" marL="0">
                        <a:buNone/>
                      </a:pPr>
                      <a:r>
                        <a:rPr lang="en-US" sz="1200" b="1" dirty="0">
                          <a:solidFill>
                            <a:schemeClr val="tx1"/>
                          </a:solidFill>
                        </a:rPr>
                        <a:t>Marketing Cost vs Contribution Margin (bubble)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channels buy margin cheaply and which are expensive?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Organic, Email/CRM and Direct sit top-left (high margin, tiny cost). Paid Social sits far right at €15.7K cost for €17.8K margin.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822960">
                <a:tc>
                  <a:txBody>
                    <a:bodyPr/>
                    <a:lstStyle/>
                    <a:p>
                      <a:pPr indent="0" marL="0">
                        <a:buNone/>
                      </a:pPr>
                      <a:r>
                        <a:rPr lang="en-US" sz="1200" b="1" dirty="0">
                          <a:solidFill>
                            <a:schemeClr val="tx1"/>
                          </a:solidFill>
                        </a:rPr>
                        <a:t>Acquisition Channel Distribution (table)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do channels compare on volume, sales, cost, margin and revenue per customer?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Paid Social leads volume (527); Email/CRM has the highest revenue per customer (€315.17).</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822960">
                <a:tc>
                  <a:txBody>
                    <a:bodyPr/>
                    <a:lstStyle/>
                    <a:p>
                      <a:pPr indent="0" marL="0">
                        <a:buNone/>
                      </a:pPr>
                      <a:r>
                        <a:rPr lang="en-US" sz="1200" b="1" dirty="0">
                          <a:solidFill>
                            <a:schemeClr val="tx1"/>
                          </a:solidFill>
                        </a:rPr>
                        <a:t>Net Sales by channel (bar)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channels drive revenue?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Paid Social €147K, Organic €135K and Paid Search €121K lead; Affiliate (€68K) and Direct (€66K) trail.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1 · ACQUISITION OVERVIEW</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Cost and margin per customer, by channel</a:t>
            </a:r>
            <a:endParaRPr lang="en-US" sz="3200" dirty="0"/>
          </a:p>
        </p:txBody>
      </p:sp>
      <p:sp>
        <p:nvSpPr>
          <p:cNvPr id="5" name="Text 2"/>
          <p:cNvSpPr txBox="1"/>
          <p:nvPr/>
        </p:nvSpPr>
        <p:spPr>
          <a:xfrm>
            <a:off x="548640" y="1508760"/>
            <a:ext cx="5394960" cy="274320"/>
          </a:xfrm>
          <a:prstGeom prst="rect">
            <a:avLst/>
          </a:prstGeom>
          <a:noFill/>
          <a:ln/>
        </p:spPr>
        <p:txBody>
          <a:bodyPr wrap="square" lIns="0" tIns="0" rIns="0" bIns="0" rtlCol="0" anchor="t"/>
          <a:lstStyle/>
          <a:p>
            <a:pPr indent="0" marL="0">
              <a:buNone/>
            </a:pPr>
            <a:r>
              <a:rPr lang="en-US" sz="1400" b="1" dirty="0">
                <a:solidFill>
                  <a:schemeClr val="tx2"/>
                </a:solidFill>
              </a:rPr>
              <a:t>Marketing cost per acquired customer (€)</a:t>
            </a:r>
            <a:endParaRPr lang="en-US" sz="1400" dirty="0"/>
          </a:p>
        </p:txBody>
      </p:sp>
      <p:graphicFrame>
        <p:nvGraphicFramePr>
          <p:cNvPr id="6" name="Chart 0" descr=""/>
          <p:cNvGraphicFramePr/>
          <p:nvPr/>
        </p:nvGraphicFramePr>
        <p:xfrm>
          <a:off x="548640" y="1783080"/>
          <a:ext cx="5394960" cy="25146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6217920" y="1508760"/>
            <a:ext cx="5394960" cy="274320"/>
          </a:xfrm>
          <a:prstGeom prst="rect">
            <a:avLst/>
          </a:prstGeom>
          <a:noFill/>
          <a:ln/>
        </p:spPr>
        <p:txBody>
          <a:bodyPr wrap="square" lIns="0" tIns="0" rIns="0" bIns="0" rtlCol="0" anchor="t"/>
          <a:lstStyle/>
          <a:p>
            <a:pPr indent="0" marL="0">
              <a:buNone/>
            </a:pPr>
            <a:r>
              <a:rPr lang="en-US" sz="1400" b="1" dirty="0">
                <a:solidFill>
                  <a:schemeClr val="tx2"/>
                </a:solidFill>
              </a:rPr>
              <a:t>Contribution margin per acquired customer (€)</a:t>
            </a:r>
            <a:endParaRPr lang="en-US" sz="1400" dirty="0"/>
          </a:p>
        </p:txBody>
      </p:sp>
      <p:graphicFrame>
        <p:nvGraphicFramePr>
          <p:cNvPr id="8" name="Chart 1" descr=""/>
          <p:cNvGraphicFramePr/>
          <p:nvPr/>
        </p:nvGraphicFramePr>
        <p:xfrm>
          <a:off x="6217920" y="1783080"/>
          <a:ext cx="5394960" cy="251460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548640" y="4389120"/>
            <a:ext cx="5394960" cy="640080"/>
          </a:xfrm>
          <a:prstGeom prst="rect">
            <a:avLst/>
          </a:prstGeom>
          <a:noFill/>
          <a:ln/>
        </p:spPr>
        <p:txBody>
          <a:bodyPr wrap="square" lIns="0" tIns="0" rIns="0" bIns="0" rtlCol="0" anchor="t"/>
          <a:lstStyle/>
          <a:p>
            <a:pPr indent="0" marL="0">
              <a:buNone/>
            </a:pPr>
            <a:r>
              <a:rPr lang="en-US" sz="1400" dirty="0">
                <a:solidFill>
                  <a:schemeClr val="tx1"/>
                </a:solidFill>
              </a:rPr>
              <a:t>Paid Social costs about €30 per customer, nearly 10x Organic Search or Email/CRM (about €3).</a:t>
            </a:r>
            <a:endParaRPr lang="en-US" sz="1400" dirty="0"/>
          </a:p>
        </p:txBody>
      </p:sp>
      <p:sp>
        <p:nvSpPr>
          <p:cNvPr id="10" name="Text 5"/>
          <p:cNvSpPr txBox="1"/>
          <p:nvPr/>
        </p:nvSpPr>
        <p:spPr>
          <a:xfrm>
            <a:off x="6217920" y="4389120"/>
            <a:ext cx="5394960" cy="640080"/>
          </a:xfrm>
          <a:prstGeom prst="rect">
            <a:avLst/>
          </a:prstGeom>
          <a:noFill/>
          <a:ln/>
        </p:spPr>
        <p:txBody>
          <a:bodyPr wrap="square" lIns="0" tIns="0" rIns="0" bIns="0" rtlCol="0" anchor="t"/>
          <a:lstStyle/>
          <a:p>
            <a:pPr indent="0" marL="0">
              <a:buNone/>
            </a:pPr>
            <a:r>
              <a:rPr lang="en-US" sz="1400" dirty="0">
                <a:solidFill>
                  <a:schemeClr val="tx1"/>
                </a:solidFill>
              </a:rPr>
              <a:t>Email/CRM, Direct and Organic return €70–77 margin per customer; Paid Social returns only €34.</a:t>
            </a:r>
            <a:endParaRPr lang="en-US" sz="1400" dirty="0"/>
          </a:p>
        </p:txBody>
      </p:sp>
      <p:sp>
        <p:nvSpPr>
          <p:cNvPr id="11" name="Card"/>
          <p:cNvSpPr/>
          <p:nvPr/>
        </p:nvSpPr>
        <p:spPr>
          <a:xfrm>
            <a:off x="548640" y="5120640"/>
            <a:ext cx="539496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2" name="Text 7"/>
          <p:cNvSpPr txBox="1"/>
          <p:nvPr/>
        </p:nvSpPr>
        <p:spPr>
          <a:xfrm>
            <a:off x="777240" y="5120640"/>
            <a:ext cx="1371600" cy="10515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52%</a:t>
            </a:r>
            <a:endParaRPr lang="en-US" sz="3200" dirty="0"/>
          </a:p>
        </p:txBody>
      </p:sp>
      <p:sp>
        <p:nvSpPr>
          <p:cNvPr id="13" name="Text 8"/>
          <p:cNvSpPr txBox="1"/>
          <p:nvPr/>
        </p:nvSpPr>
        <p:spPr>
          <a:xfrm>
            <a:off x="2194560" y="5120640"/>
            <a:ext cx="3520440" cy="1051560"/>
          </a:xfrm>
          <a:prstGeom prst="rect">
            <a:avLst/>
          </a:prstGeom>
          <a:noFill/>
          <a:ln/>
        </p:spPr>
        <p:txBody>
          <a:bodyPr wrap="square" lIns="0" tIns="0" rIns="0" bIns="0" rtlCol="0" anchor="ctr"/>
          <a:lstStyle/>
          <a:p>
            <a:pPr indent="0" marL="0">
              <a:buNone/>
            </a:pPr>
            <a:r>
              <a:rPr lang="en-US" sz="1400" dirty="0">
                <a:solidFill>
                  <a:schemeClr val="tx1"/>
                </a:solidFill>
              </a:rPr>
              <a:t>of marketing cost goes to Paid Social, which brings 24% of customers and 14% of margin.</a:t>
            </a:r>
            <a:endParaRPr lang="en-US" sz="1400" dirty="0"/>
          </a:p>
        </p:txBody>
      </p:sp>
      <p:sp>
        <p:nvSpPr>
          <p:cNvPr id="14" name="Card"/>
          <p:cNvSpPr/>
          <p:nvPr/>
        </p:nvSpPr>
        <p:spPr>
          <a:xfrm>
            <a:off x="6217920" y="5120640"/>
            <a:ext cx="539496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5" name="Text 10"/>
          <p:cNvSpPr txBox="1"/>
          <p:nvPr/>
        </p:nvSpPr>
        <p:spPr>
          <a:xfrm>
            <a:off x="6446520" y="5120640"/>
            <a:ext cx="1371600" cy="10515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17x</a:t>
            </a:r>
            <a:endParaRPr lang="en-US" sz="3200" dirty="0"/>
          </a:p>
        </p:txBody>
      </p:sp>
      <p:sp>
        <p:nvSpPr>
          <p:cNvPr id="16" name="Text 11"/>
          <p:cNvSpPr txBox="1"/>
          <p:nvPr/>
        </p:nvSpPr>
        <p:spPr>
          <a:xfrm>
            <a:off x="7863840" y="5120640"/>
            <a:ext cx="3520440" cy="1051560"/>
          </a:xfrm>
          <a:prstGeom prst="rect">
            <a:avLst/>
          </a:prstGeom>
          <a:noFill/>
          <a:ln/>
        </p:spPr>
        <p:txBody>
          <a:bodyPr wrap="square" lIns="0" tIns="0" rIns="0" bIns="0" rtlCol="0" anchor="ctr"/>
          <a:lstStyle/>
          <a:p>
            <a:pPr indent="0" marL="0">
              <a:buNone/>
            </a:pPr>
            <a:r>
              <a:rPr lang="en-US" sz="1400" dirty="0">
                <a:solidFill>
                  <a:schemeClr val="tx1"/>
                </a:solidFill>
              </a:rPr>
              <a:t>gap in cost per customer between Direct (€1.76) and Paid Social (€29.72).</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1 · ACQUISITION OVERVIEW</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Acquisition Overview: stakeholder scenarios</a:t>
            </a:r>
            <a:endParaRPr lang="en-US" sz="3200" dirty="0"/>
          </a:p>
        </p:txBody>
      </p:sp>
      <p:sp>
        <p:nvSpPr>
          <p:cNvPr id="5" name="Card"/>
          <p:cNvSpPr/>
          <p:nvPr/>
        </p:nvSpPr>
        <p:spPr>
          <a:xfrm>
            <a:off x="548640" y="1508760"/>
            <a:ext cx="3547872" cy="393192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IconCircle"/>
          <p:cNvSpPr/>
          <p:nvPr/>
        </p:nvSpPr>
        <p:spPr>
          <a:xfrm>
            <a:off x="777240" y="1737360"/>
            <a:ext cx="548640" cy="54864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914400" y="1874520"/>
            <a:ext cx="274320" cy="274320"/>
          </a:xfrm>
          <a:prstGeom prst="rect">
            <a:avLst/>
          </a:prstGeom>
        </p:spPr>
      </p:pic>
      <p:sp>
        <p:nvSpPr>
          <p:cNvPr id="8" name="Text 4"/>
          <p:cNvSpPr txBox="1"/>
          <p:nvPr/>
        </p:nvSpPr>
        <p:spPr>
          <a:xfrm>
            <a:off x="1463040" y="1737360"/>
            <a:ext cx="245059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CMO / Head of Marketing</a:t>
            </a:r>
            <a:endParaRPr lang="en-US" sz="1600" dirty="0"/>
          </a:p>
        </p:txBody>
      </p:sp>
      <p:sp>
        <p:nvSpPr>
          <p:cNvPr id="9" name="Text 5"/>
          <p:cNvSpPr txBox="1"/>
          <p:nvPr/>
        </p:nvSpPr>
        <p:spPr>
          <a:xfrm>
            <a:off x="777240" y="2514600"/>
            <a:ext cx="3090672" cy="2834640"/>
          </a:xfrm>
          <a:prstGeom prst="rect">
            <a:avLst/>
          </a:prstGeom>
          <a:noFill/>
          <a:ln/>
        </p:spPr>
        <p:txBody>
          <a:bodyPr wrap="square" lIns="0" tIns="0" rIns="0" bIns="0" rtlCol="0" anchor="t"/>
          <a:lstStyle/>
          <a:p>
            <a:pPr indent="0" marL="0">
              <a:buNone/>
            </a:pPr>
            <a:r>
              <a:rPr lang="en-US" sz="1100" b="1" spc="200" kern="0" dirty="0">
                <a:solidFill>
                  <a:schemeClr val="accent1"/>
                </a:solidFill>
              </a:rPr>
              <a:t>DECISION</a:t>
            </a:r>
            <a:endParaRPr lang="en-US" sz="1400" dirty="0"/>
          </a:p>
          <a:p>
            <a:pPr indent="0" marL="0">
              <a:spcAft>
                <a:spcPts val="800"/>
              </a:spcAft>
              <a:buNone/>
            </a:pPr>
            <a:r>
              <a:rPr lang="en-US" sz="1400" dirty="0">
                <a:solidFill>
                  <a:schemeClr val="tx1"/>
                </a:solidFill>
              </a:rPr>
              <a:t>How to split the marketing budget across six channels.</a:t>
            </a:r>
            <a:endParaRPr lang="en-US" sz="1400" dirty="0"/>
          </a:p>
          <a:p>
            <a:pPr indent="0" marL="0">
              <a:buNone/>
            </a:pPr>
            <a:r>
              <a:rPr lang="en-US" sz="1100" b="1" spc="200" kern="0" dirty="0">
                <a:solidFill>
                  <a:schemeClr val="accent1"/>
                </a:solidFill>
              </a:rPr>
              <a:t>WHAT THE PAGE SHOWS</a:t>
            </a:r>
            <a:endParaRPr lang="en-US" sz="1400" dirty="0"/>
          </a:p>
          <a:p>
            <a:pPr indent="0" marL="0">
              <a:spcAft>
                <a:spcPts val="800"/>
              </a:spcAft>
              <a:buNone/>
            </a:pPr>
            <a:r>
              <a:rPr lang="en-US" sz="1400" dirty="0">
                <a:solidFill>
                  <a:schemeClr val="tx1"/>
                </a:solidFill>
              </a:rPr>
              <a:t>Paid Social takes 52% of the €29.88K spend yet returns only €33.81 margin per customer.</a:t>
            </a:r>
            <a:endParaRPr lang="en-US" sz="1400" dirty="0"/>
          </a:p>
          <a:p>
            <a:pPr indent="0" marL="0">
              <a:buNone/>
            </a:pPr>
            <a:r>
              <a:rPr lang="en-US" sz="1100" b="1" spc="200" kern="0" dirty="0">
                <a:solidFill>
                  <a:schemeClr val="accent1"/>
                </a:solidFill>
              </a:rPr>
              <a:t>ACTION</a:t>
            </a:r>
            <a:endParaRPr lang="en-US" sz="1400" dirty="0"/>
          </a:p>
          <a:p>
            <a:pPr indent="0" marL="0">
              <a:spcAft>
                <a:spcPts val="800"/>
              </a:spcAft>
              <a:buNone/>
            </a:pPr>
            <a:r>
              <a:rPr lang="en-US" sz="1400" dirty="0">
                <a:solidFill>
                  <a:schemeClr val="tx1"/>
                </a:solidFill>
              </a:rPr>
              <a:t>Set cost-per-customer ceilings by channel; move incremental budget toward Email/CRM and organic content.</a:t>
            </a:r>
            <a:endParaRPr lang="en-US" sz="1400" dirty="0"/>
          </a:p>
        </p:txBody>
      </p:sp>
      <p:sp>
        <p:nvSpPr>
          <p:cNvPr id="10" name="Card"/>
          <p:cNvSpPr/>
          <p:nvPr/>
        </p:nvSpPr>
        <p:spPr>
          <a:xfrm>
            <a:off x="4306824" y="1508760"/>
            <a:ext cx="3547872" cy="393192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IconCircle"/>
          <p:cNvSpPr/>
          <p:nvPr/>
        </p:nvSpPr>
        <p:spPr>
          <a:xfrm>
            <a:off x="4535424" y="1737360"/>
            <a:ext cx="548640" cy="54864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4672584" y="1874520"/>
            <a:ext cx="274320" cy="274320"/>
          </a:xfrm>
          <a:prstGeom prst="rect">
            <a:avLst/>
          </a:prstGeom>
        </p:spPr>
      </p:pic>
      <p:sp>
        <p:nvSpPr>
          <p:cNvPr id="13" name="Text 8"/>
          <p:cNvSpPr txBox="1"/>
          <p:nvPr/>
        </p:nvSpPr>
        <p:spPr>
          <a:xfrm>
            <a:off x="5221224" y="1737360"/>
            <a:ext cx="245059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Performance Marketing Manager</a:t>
            </a:r>
            <a:endParaRPr lang="en-US" sz="1600" dirty="0"/>
          </a:p>
        </p:txBody>
      </p:sp>
      <p:sp>
        <p:nvSpPr>
          <p:cNvPr id="14" name="Text 9"/>
          <p:cNvSpPr txBox="1"/>
          <p:nvPr/>
        </p:nvSpPr>
        <p:spPr>
          <a:xfrm>
            <a:off x="4535424" y="2514600"/>
            <a:ext cx="3090672" cy="2834640"/>
          </a:xfrm>
          <a:prstGeom prst="rect">
            <a:avLst/>
          </a:prstGeom>
          <a:noFill/>
          <a:ln/>
        </p:spPr>
        <p:txBody>
          <a:bodyPr wrap="square" lIns="0" tIns="0" rIns="0" bIns="0" rtlCol="0" anchor="t"/>
          <a:lstStyle/>
          <a:p>
            <a:pPr indent="0" marL="0">
              <a:buNone/>
            </a:pPr>
            <a:r>
              <a:rPr lang="en-US" sz="1100" b="1" spc="200" kern="0" dirty="0">
                <a:solidFill>
                  <a:schemeClr val="accent1"/>
                </a:solidFill>
              </a:rPr>
              <a:t>DECISION</a:t>
            </a:r>
            <a:endParaRPr lang="en-US" sz="1400" dirty="0"/>
          </a:p>
          <a:p>
            <a:pPr indent="0" marL="0">
              <a:spcAft>
                <a:spcPts val="800"/>
              </a:spcAft>
              <a:buNone/>
            </a:pPr>
            <a:r>
              <a:rPr lang="en-US" sz="1400" dirty="0">
                <a:solidFill>
                  <a:schemeClr val="tx1"/>
                </a:solidFill>
              </a:rPr>
              <a:t>Which paid channels to scale, tune or pause.</a:t>
            </a:r>
            <a:endParaRPr lang="en-US" sz="1400" dirty="0"/>
          </a:p>
          <a:p>
            <a:pPr indent="0" marL="0">
              <a:buNone/>
            </a:pPr>
            <a:r>
              <a:rPr lang="en-US" sz="1100" b="1" spc="200" kern="0" dirty="0">
                <a:solidFill>
                  <a:schemeClr val="accent1"/>
                </a:solidFill>
              </a:rPr>
              <a:t>WHAT THE PAGE SHOWS</a:t>
            </a:r>
            <a:endParaRPr lang="en-US" sz="1400" dirty="0"/>
          </a:p>
          <a:p>
            <a:pPr indent="0" marL="0">
              <a:spcAft>
                <a:spcPts val="800"/>
              </a:spcAft>
              <a:buNone/>
            </a:pPr>
            <a:r>
              <a:rPr lang="en-US" sz="1400" dirty="0">
                <a:solidFill>
                  <a:schemeClr val="tx1"/>
                </a:solidFill>
              </a:rPr>
              <a:t>Paid Search costs €21.14 per customer vs €29.72 on Paid Social, with similar revenue per customer (€294 vs €279).</a:t>
            </a:r>
            <a:endParaRPr lang="en-US" sz="1400" dirty="0"/>
          </a:p>
          <a:p>
            <a:pPr indent="0" marL="0">
              <a:buNone/>
            </a:pPr>
            <a:r>
              <a:rPr lang="en-US" sz="1100" b="1" spc="200" kern="0" dirty="0">
                <a:solidFill>
                  <a:schemeClr val="accent1"/>
                </a:solidFill>
              </a:rPr>
              <a:t>ACTION</a:t>
            </a:r>
            <a:endParaRPr lang="en-US" sz="1400" dirty="0"/>
          </a:p>
          <a:p>
            <a:pPr indent="0" marL="0">
              <a:spcAft>
                <a:spcPts val="800"/>
              </a:spcAft>
              <a:buNone/>
            </a:pPr>
            <a:r>
              <a:rPr lang="en-US" sz="1400" dirty="0">
                <a:solidFill>
                  <a:schemeClr val="tx1"/>
                </a:solidFill>
              </a:rPr>
              <a:t>Move to value-based bidding and tighter audience targeting on Paid Social.</a:t>
            </a:r>
            <a:endParaRPr lang="en-US" sz="1400" dirty="0"/>
          </a:p>
        </p:txBody>
      </p:sp>
      <p:sp>
        <p:nvSpPr>
          <p:cNvPr id="15" name="Card"/>
          <p:cNvSpPr/>
          <p:nvPr/>
        </p:nvSpPr>
        <p:spPr>
          <a:xfrm>
            <a:off x="8065008" y="1508760"/>
            <a:ext cx="3547872" cy="3931920"/>
          </a:xfrm>
          <a:prstGeom prst="roundRect">
            <a:avLst>
              <a:gd name="adj" fmla="val 2577"/>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IconCircle"/>
          <p:cNvSpPr/>
          <p:nvPr/>
        </p:nvSpPr>
        <p:spPr>
          <a:xfrm>
            <a:off x="8293608" y="1737360"/>
            <a:ext cx="548640" cy="548640"/>
          </a:xfrm>
          <a:prstGeom prst="ellipse">
            <a:avLst/>
          </a:prstGeom>
          <a:solidFill>
            <a:schemeClr val="accent1"/>
          </a:solidFill>
          <a:ln w="12700">
            <a:solidFill>
              <a:schemeClr val="accent1"/>
            </a:solidFill>
            <a:prstDash val="solid"/>
          </a:ln>
        </p:spPr>
      </p:sp>
      <p:pic>
        <p:nvPicPr>
          <p:cNvPr id="17" name="Image 2" descr="icon">    </p:cNvPr>
          <p:cNvPicPr>
            <a:picLocks noChangeAspect="1"/>
          </p:cNvPicPr>
          <p:nvPr/>
        </p:nvPicPr>
        <p:blipFill>
          <a:blip r:embed="rId3"/>
          <a:stretch>
            <a:fillRect/>
          </a:stretch>
        </p:blipFill>
        <p:spPr>
          <a:xfrm>
            <a:off x="8430768" y="1874520"/>
            <a:ext cx="274320" cy="274320"/>
          </a:xfrm>
          <a:prstGeom prst="rect">
            <a:avLst/>
          </a:prstGeom>
        </p:spPr>
      </p:pic>
      <p:sp>
        <p:nvSpPr>
          <p:cNvPr id="18" name="Text 12"/>
          <p:cNvSpPr txBox="1"/>
          <p:nvPr/>
        </p:nvSpPr>
        <p:spPr>
          <a:xfrm>
            <a:off x="8979408" y="1737360"/>
            <a:ext cx="245059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Finance / FP&amp;A</a:t>
            </a:r>
            <a:endParaRPr lang="en-US" sz="1600" dirty="0"/>
          </a:p>
        </p:txBody>
      </p:sp>
      <p:sp>
        <p:nvSpPr>
          <p:cNvPr id="19" name="Text 13"/>
          <p:cNvSpPr txBox="1"/>
          <p:nvPr/>
        </p:nvSpPr>
        <p:spPr>
          <a:xfrm>
            <a:off x="8293608" y="2514600"/>
            <a:ext cx="3090672" cy="2834640"/>
          </a:xfrm>
          <a:prstGeom prst="rect">
            <a:avLst/>
          </a:prstGeom>
          <a:noFill/>
          <a:ln/>
        </p:spPr>
        <p:txBody>
          <a:bodyPr wrap="square" lIns="0" tIns="0" rIns="0" bIns="0" rtlCol="0" anchor="t"/>
          <a:lstStyle/>
          <a:p>
            <a:pPr indent="0" marL="0">
              <a:buNone/>
            </a:pPr>
            <a:r>
              <a:rPr lang="en-US" sz="1100" b="1" spc="200" kern="0" dirty="0">
                <a:solidFill>
                  <a:schemeClr val="accent1"/>
                </a:solidFill>
              </a:rPr>
              <a:t>DECISION</a:t>
            </a:r>
            <a:endParaRPr lang="en-US" sz="1400" dirty="0"/>
          </a:p>
          <a:p>
            <a:pPr indent="0" marL="0">
              <a:spcAft>
                <a:spcPts val="800"/>
              </a:spcAft>
              <a:buNone/>
            </a:pPr>
            <a:r>
              <a:rPr lang="en-US" sz="1400" dirty="0">
                <a:solidFill>
                  <a:schemeClr val="tx1"/>
                </a:solidFill>
              </a:rPr>
              <a:t>Does marketing earn its keep, and how should it be forecast?</a:t>
            </a:r>
            <a:endParaRPr lang="en-US" sz="1400" dirty="0"/>
          </a:p>
          <a:p>
            <a:pPr indent="0" marL="0">
              <a:buNone/>
            </a:pPr>
            <a:r>
              <a:rPr lang="en-US" sz="1100" b="1" spc="200" kern="0" dirty="0">
                <a:solidFill>
                  <a:schemeClr val="accent1"/>
                </a:solidFill>
              </a:rPr>
              <a:t>WHAT THE PAGE SHOWS</a:t>
            </a:r>
            <a:endParaRPr lang="en-US" sz="1400" dirty="0"/>
          </a:p>
          <a:p>
            <a:pPr indent="0" marL="0">
              <a:spcAft>
                <a:spcPts val="800"/>
              </a:spcAft>
              <a:buNone/>
            </a:pPr>
            <a:r>
              <a:rPr lang="en-US" sz="1400" dirty="0">
                <a:solidFill>
                  <a:schemeClr val="tx1"/>
                </a:solidFill>
              </a:rPr>
              <a:t>Marketing is 4.7% of net sales: €13.58 acquisition cost per customer against €58.02 margin per customer.</a:t>
            </a:r>
            <a:endParaRPr lang="en-US" sz="1400" dirty="0"/>
          </a:p>
          <a:p>
            <a:pPr indent="0" marL="0">
              <a:buNone/>
            </a:pPr>
            <a:r>
              <a:rPr lang="en-US" sz="1100" b="1" spc="200" kern="0" dirty="0">
                <a:solidFill>
                  <a:schemeClr val="accent1"/>
                </a:solidFill>
              </a:rPr>
              <a:t>ACTION</a:t>
            </a:r>
            <a:endParaRPr lang="en-US" sz="1400" dirty="0"/>
          </a:p>
          <a:p>
            <a:pPr indent="0" marL="0">
              <a:spcAft>
                <a:spcPts val="800"/>
              </a:spcAft>
              <a:buNone/>
            </a:pPr>
            <a:r>
              <a:rPr lang="en-US" sz="1400" dirty="0">
                <a:solidFill>
                  <a:schemeClr val="tx1"/>
                </a:solidFill>
              </a:rPr>
              <a:t>Track margin-to-cost by channel monthly and explain the Q4 2025 dip (about 23% below Q3).</a:t>
            </a:r>
            <a:endParaRPr lang="en-US" sz="1400" dirty="0"/>
          </a:p>
        </p:txBody>
      </p:sp>
      <p:sp>
        <p:nvSpPr>
          <p:cNvPr id="20" name="WatchOut"/>
          <p:cNvSpPr/>
          <p:nvPr/>
        </p:nvSpPr>
        <p:spPr>
          <a:xfrm>
            <a:off x="548640" y="5623560"/>
            <a:ext cx="11064240" cy="548640"/>
          </a:xfrm>
          <a:prstGeom prst="roundRect">
            <a:avLst>
              <a:gd name="adj" fmla="val 16667"/>
            </a:avLst>
          </a:prstGeom>
          <a:solidFill>
            <a:schemeClr val="tx2"/>
          </a:solidFill>
          <a:ln w="12700">
            <a:solidFill>
              <a:schemeClr val="tx2"/>
            </a:solidFill>
            <a:prstDash val="solid"/>
          </a:ln>
        </p:spPr>
      </p:sp>
      <p:sp>
        <p:nvSpPr>
          <p:cNvPr id="21" name="Text 15"/>
          <p:cNvSpPr txBox="1"/>
          <p:nvPr/>
        </p:nvSpPr>
        <p:spPr>
          <a:xfrm>
            <a:off x="777240" y="5623560"/>
            <a:ext cx="10607040" cy="548640"/>
          </a:xfrm>
          <a:prstGeom prst="rect">
            <a:avLst/>
          </a:prstGeom>
          <a:noFill/>
          <a:ln/>
        </p:spPr>
        <p:txBody>
          <a:bodyPr wrap="square" lIns="0" tIns="0" rIns="0" bIns="0" rtlCol="0" anchor="ctr"/>
          <a:lstStyle/>
          <a:p>
            <a:pPr indent="0" marL="0">
              <a:buNone/>
            </a:pPr>
            <a:r>
              <a:rPr lang="en-US" sz="1400" b="1" dirty="0">
                <a:solidFill>
                  <a:schemeClr val="accent3"/>
                </a:solidFill>
              </a:rPr>
              <a:t>Watch-out  </a:t>
            </a:r>
            <a:pPr indent="0" marL="0">
              <a:buNone/>
            </a:pPr>
            <a:r>
              <a:rPr lang="en-US" sz="1400" dirty="0">
                <a:solidFill>
                  <a:schemeClr val="bg1"/>
                </a:solidFill>
              </a:rPr>
              <a:t>Q4 2025 customer volume is about 23% below Q3. Confirm seasonality vs incomplete data before drawing conclusions.</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2 · CAMPAIGN PERFORMANCE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Campaign Performance: questions answered</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926080"/>
                <a:gridCol w="3383280"/>
                <a:gridCol w="4754880"/>
              </a:tblGrid>
              <a:tr h="365760">
                <a:tc>
                  <a:txBody>
                    <a:bodyPr/>
                    <a:lstStyle/>
                    <a:p>
                      <a:pPr indent="0" marL="0">
                        <a:buNone/>
                      </a:pPr>
                      <a:r>
                        <a:rPr lang="en-US" sz="1200" b="1" dirty="0">
                          <a:solidFill>
                            <a:schemeClr val="bg1"/>
                          </a:solidFill>
                        </a:rPr>
                        <a:t>Visual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Business question it answers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data shows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r>
              <a:tr h="685800">
                <a:tc>
                  <a:txBody>
                    <a:bodyPr/>
                    <a:lstStyle/>
                    <a:p>
                      <a:pPr indent="0" marL="0">
                        <a:buNone/>
                      </a:pPr>
                      <a:r>
                        <a:rPr lang="en-US" sz="1200" b="1" dirty="0">
                          <a:solidFill>
                            <a:schemeClr val="tx1"/>
                          </a:solidFill>
                        </a:rPr>
                        <a:t>KPI cards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Is the business profitable after promotions and marketing?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19.93% contribution margin on €640.42K net sales across 5,873 orders; €29.88K marketing cost.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rPr>
                        <a:t>Net Sales and Contribution Margin % by campaign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Which campaigns sell most and which keep their margin?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Welcome 15% (~€76K) and Bundle &amp; Save (€74K) lead sales. Bundle &amp; Save earns 28.5% margin; Clearance 35% earns −12.3%.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777240">
                <a:tc>
                  <a:txBody>
                    <a:bodyPr/>
                    <a:lstStyle/>
                    <a:p>
                      <a:pPr indent="0" marL="0">
                        <a:buNone/>
                      </a:pPr>
                      <a:r>
                        <a:rPr lang="en-US" sz="1200" b="1" dirty="0">
                          <a:solidFill>
                            <a:schemeClr val="tx1"/>
                          </a:solidFill>
                        </a:rPr>
                        <a:t>Campaign Cost Distribution (table)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What does each campaign cost and return, in € and %?</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Marketing cost is 3.4–6.9% of campaign sales; Clearance has the highest cost share (6.91%) and is loss-making.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731520">
                <a:tc>
                  <a:txBody>
                    <a:bodyPr/>
                    <a:lstStyle/>
                    <a:p>
                      <a:pPr indent="0" marL="0">
                        <a:buNone/>
                      </a:pPr>
                      <a:r>
                        <a:rPr lang="en-US" sz="1200" b="1" dirty="0">
                          <a:solidFill>
                            <a:schemeClr val="tx1"/>
                          </a:solidFill>
                        </a:rPr>
                        <a:t>Marketing Cost vs Margin by campaign and objective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Which objectives deliver margin for the spend?</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Basket growth: ~€2.5K cost for €21K margin. Acquisition: ~€7.4K cost for ~€9K margin.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731520">
                <a:tc>
                  <a:txBody>
                    <a:bodyPr/>
                    <a:lstStyle/>
                    <a:p>
                      <a:pPr indent="0" marL="0">
                        <a:buNone/>
                      </a:pPr>
                      <a:r>
                        <a:rPr lang="en-US" sz="1200" b="1" dirty="0">
                          <a:solidFill>
                            <a:schemeClr val="tx1"/>
                          </a:solidFill>
                        </a:rPr>
                        <a:t>Net Sales by Promotion Objective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business goals do promotions serve, and how much do they sell?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Acquisition €76K, Basket growth €74K and Retention €74K lead; Inventory clearance is smallest (€23K).</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685800">
                <a:tc>
                  <a:txBody>
                    <a:bodyPr/>
                    <a:lstStyle/>
                    <a:p>
                      <a:pPr indent="0" marL="0">
                        <a:buNone/>
                      </a:pPr>
                      <a:r>
                        <a:rPr lang="en-US" sz="1200" b="1" dirty="0">
                          <a:solidFill>
                            <a:schemeClr val="tx1"/>
                          </a:solidFill>
                        </a:rPr>
                        <a:t>Marketing Cost by campaign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Where does the promotion budget go?</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Welcome 15% takes €7.4K (about a quarter of spend); VIP Private Sale takes only €0.4K.</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2 · CAMPAIGN PERFORMANCE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Promotions trade margin for volume</a:t>
            </a:r>
            <a:endParaRPr lang="en-US" sz="3200" dirty="0"/>
          </a:p>
        </p:txBody>
      </p:sp>
      <p:sp>
        <p:nvSpPr>
          <p:cNvPr id="5" name="Text 2"/>
          <p:cNvSpPr txBox="1"/>
          <p:nvPr/>
        </p:nvSpPr>
        <p:spPr>
          <a:xfrm>
            <a:off x="548640" y="1508760"/>
            <a:ext cx="6583680" cy="274320"/>
          </a:xfrm>
          <a:prstGeom prst="rect">
            <a:avLst/>
          </a:prstGeom>
          <a:noFill/>
          <a:ln/>
        </p:spPr>
        <p:txBody>
          <a:bodyPr wrap="square" lIns="0" tIns="0" rIns="0" bIns="0" rtlCol="0" anchor="t"/>
          <a:lstStyle/>
          <a:p>
            <a:pPr indent="0" marL="0">
              <a:buNone/>
            </a:pPr>
            <a:r>
              <a:rPr lang="en-US" sz="1400" b="1" dirty="0">
                <a:solidFill>
                  <a:schemeClr val="tx2"/>
                </a:solidFill>
              </a:rPr>
              <a:t>Contribution margin % by campaign</a:t>
            </a:r>
            <a:endParaRPr lang="en-US" sz="1400" dirty="0"/>
          </a:p>
        </p:txBody>
      </p:sp>
      <p:graphicFrame>
        <p:nvGraphicFramePr>
          <p:cNvPr id="6" name="Chart 0" descr=""/>
          <p:cNvGraphicFramePr/>
          <p:nvPr/>
        </p:nvGraphicFramePr>
        <p:xfrm>
          <a:off x="548640" y="178308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669280"/>
            <a:ext cx="6583680" cy="640080"/>
          </a:xfrm>
          <a:prstGeom prst="rect">
            <a:avLst/>
          </a:prstGeom>
          <a:noFill/>
          <a:ln/>
        </p:spPr>
        <p:txBody>
          <a:bodyPr wrap="square" lIns="0" tIns="0" rIns="0" bIns="0" rtlCol="0" anchor="t"/>
          <a:lstStyle/>
          <a:p>
            <a:pPr indent="0" marL="0">
              <a:buNone/>
            </a:pPr>
            <a:r>
              <a:rPr lang="en-US" sz="1100" dirty="0">
                <a:solidFill>
                  <a:schemeClr val="accent6"/>
                </a:solidFill>
              </a:rPr>
              <a:t>Green: 20% or more. Amber: 0–20%. Red: negative. Welcome 15% (~11–12%), Weekend Flash 25% (~1–2%), Summer Event 15% (~21%) and VIP Private Sale 12% (~23%) are read from the combo chart because the table was scrolled.</a:t>
            </a:r>
            <a:endParaRPr lang="en-US" sz="1100" dirty="0"/>
          </a:p>
        </p:txBody>
      </p:sp>
      <p:sp>
        <p:nvSpPr>
          <p:cNvPr id="8" name="Card"/>
          <p:cNvSpPr/>
          <p:nvPr/>
        </p:nvSpPr>
        <p:spPr>
          <a:xfrm>
            <a:off x="7406640" y="1508760"/>
            <a:ext cx="420624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Text 5"/>
          <p:cNvSpPr txBox="1"/>
          <p:nvPr/>
        </p:nvSpPr>
        <p:spPr>
          <a:xfrm>
            <a:off x="7635240" y="1600200"/>
            <a:ext cx="3749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25.4% vs 16.7%</a:t>
            </a:r>
            <a:endParaRPr lang="en-US" sz="2000" dirty="0"/>
          </a:p>
        </p:txBody>
      </p:sp>
      <p:sp>
        <p:nvSpPr>
          <p:cNvPr id="10" name="Text 6"/>
          <p:cNvSpPr txBox="1"/>
          <p:nvPr/>
        </p:nvSpPr>
        <p:spPr>
          <a:xfrm>
            <a:off x="7635240" y="1993392"/>
            <a:ext cx="3749040" cy="502920"/>
          </a:xfrm>
          <a:prstGeom prst="rect">
            <a:avLst/>
          </a:prstGeom>
          <a:noFill/>
          <a:ln/>
        </p:spPr>
        <p:txBody>
          <a:bodyPr wrap="square" lIns="0" tIns="0" rIns="0" bIns="0" rtlCol="0" anchor="t"/>
          <a:lstStyle/>
          <a:p>
            <a:pPr indent="0" marL="0">
              <a:buNone/>
            </a:pPr>
            <a:r>
              <a:rPr lang="en-US" sz="1400" dirty="0">
                <a:solidFill>
                  <a:schemeClr val="tx1"/>
                </a:solidFill>
              </a:rPr>
              <a:t>margin with no promotion vs across all promoted sales (derived).</a:t>
            </a:r>
            <a:endParaRPr lang="en-US" sz="1400" dirty="0"/>
          </a:p>
        </p:txBody>
      </p:sp>
      <p:sp>
        <p:nvSpPr>
          <p:cNvPr id="11" name="Card"/>
          <p:cNvSpPr/>
          <p:nvPr/>
        </p:nvSpPr>
        <p:spPr>
          <a:xfrm>
            <a:off x="7406640" y="2679192"/>
            <a:ext cx="420624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2" name="Text 8"/>
          <p:cNvSpPr txBox="1"/>
          <p:nvPr/>
        </p:nvSpPr>
        <p:spPr>
          <a:xfrm>
            <a:off x="7635240" y="2770632"/>
            <a:ext cx="3749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−12.3%</a:t>
            </a:r>
            <a:endParaRPr lang="en-US" sz="2000" dirty="0"/>
          </a:p>
        </p:txBody>
      </p:sp>
      <p:sp>
        <p:nvSpPr>
          <p:cNvPr id="13" name="Text 9"/>
          <p:cNvSpPr txBox="1"/>
          <p:nvPr/>
        </p:nvSpPr>
        <p:spPr>
          <a:xfrm>
            <a:off x="7635240" y="3163824"/>
            <a:ext cx="3749040" cy="502920"/>
          </a:xfrm>
          <a:prstGeom prst="rect">
            <a:avLst/>
          </a:prstGeom>
          <a:noFill/>
          <a:ln/>
        </p:spPr>
        <p:txBody>
          <a:bodyPr wrap="square" lIns="0" tIns="0" rIns="0" bIns="0" rtlCol="0" anchor="t"/>
          <a:lstStyle/>
          <a:p>
            <a:pPr indent="0" marL="0">
              <a:buNone/>
            </a:pPr>
            <a:r>
              <a:rPr lang="en-US" sz="1400" dirty="0">
                <a:solidFill>
                  <a:schemeClr val="tx1"/>
                </a:solidFill>
              </a:rPr>
              <a:t>Clearance 35%: €22.5K net sales, −€2.8K contribution.</a:t>
            </a:r>
            <a:endParaRPr lang="en-US" sz="1400" dirty="0"/>
          </a:p>
        </p:txBody>
      </p:sp>
      <p:sp>
        <p:nvSpPr>
          <p:cNvPr id="14" name="Card"/>
          <p:cNvSpPr/>
          <p:nvPr/>
        </p:nvSpPr>
        <p:spPr>
          <a:xfrm>
            <a:off x="7406640" y="3849624"/>
            <a:ext cx="420624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5" name="Text 11"/>
          <p:cNvSpPr txBox="1"/>
          <p:nvPr/>
        </p:nvSpPr>
        <p:spPr>
          <a:xfrm>
            <a:off x="7635240" y="3941064"/>
            <a:ext cx="3749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28.5%</a:t>
            </a:r>
            <a:endParaRPr lang="en-US" sz="2000" dirty="0"/>
          </a:p>
        </p:txBody>
      </p:sp>
      <p:sp>
        <p:nvSpPr>
          <p:cNvPr id="16" name="Text 12"/>
          <p:cNvSpPr txBox="1"/>
          <p:nvPr/>
        </p:nvSpPr>
        <p:spPr>
          <a:xfrm>
            <a:off x="7635240" y="4334256"/>
            <a:ext cx="3749040" cy="502920"/>
          </a:xfrm>
          <a:prstGeom prst="rect">
            <a:avLst/>
          </a:prstGeom>
          <a:noFill/>
          <a:ln/>
        </p:spPr>
        <p:txBody>
          <a:bodyPr wrap="square" lIns="0" tIns="0" rIns="0" bIns="0" rtlCol="0" anchor="t"/>
          <a:lstStyle/>
          <a:p>
            <a:pPr indent="0" marL="0">
              <a:buNone/>
            </a:pPr>
            <a:r>
              <a:rPr lang="en-US" sz="1400" dirty="0">
                <a:solidFill>
                  <a:schemeClr val="tx1"/>
                </a:solidFill>
              </a:rPr>
              <a:t>Bundle &amp; Save: best margin on the lowest cost share (3.36%).</a:t>
            </a:r>
            <a:endParaRPr lang="en-US" sz="1400" dirty="0"/>
          </a:p>
        </p:txBody>
      </p:sp>
      <p:sp>
        <p:nvSpPr>
          <p:cNvPr id="17" name="Card"/>
          <p:cNvSpPr/>
          <p:nvPr/>
        </p:nvSpPr>
        <p:spPr>
          <a:xfrm>
            <a:off x="7406640" y="5020056"/>
            <a:ext cx="4206240" cy="1051560"/>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8" name="Text 14"/>
          <p:cNvSpPr txBox="1"/>
          <p:nvPr/>
        </p:nvSpPr>
        <p:spPr>
          <a:xfrm>
            <a:off x="7635240" y="5111496"/>
            <a:ext cx="3749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~25%</a:t>
            </a:r>
            <a:endParaRPr lang="en-US" sz="2000" dirty="0"/>
          </a:p>
        </p:txBody>
      </p:sp>
      <p:sp>
        <p:nvSpPr>
          <p:cNvPr id="19" name="Text 15"/>
          <p:cNvSpPr txBox="1"/>
          <p:nvPr/>
        </p:nvSpPr>
        <p:spPr>
          <a:xfrm>
            <a:off x="7635240" y="5504688"/>
            <a:ext cx="3749040" cy="502920"/>
          </a:xfrm>
          <a:prstGeom prst="rect">
            <a:avLst/>
          </a:prstGeom>
          <a:noFill/>
          <a:ln/>
        </p:spPr>
        <p:txBody>
          <a:bodyPr wrap="square" lIns="0" tIns="0" rIns="0" bIns="0" rtlCol="0" anchor="t"/>
          <a:lstStyle/>
          <a:p>
            <a:pPr indent="0" marL="0">
              <a:buNone/>
            </a:pPr>
            <a:r>
              <a:rPr lang="en-US" sz="1400" dirty="0">
                <a:solidFill>
                  <a:schemeClr val="tx1"/>
                </a:solidFill>
              </a:rPr>
              <a:t>of marketing cost goes to Welcome 15% (€7.4K), the largest line.</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2 · CAMPAIGN PERFORMANCE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Campaign Performance: stakeholder scenarios</a:t>
            </a:r>
            <a:endParaRPr lang="en-US" sz="3200" dirty="0"/>
          </a:p>
        </p:txBody>
      </p:sp>
      <p:sp>
        <p:nvSpPr>
          <p:cNvPr id="5" name="Card"/>
          <p:cNvSpPr/>
          <p:nvPr/>
        </p:nvSpPr>
        <p:spPr>
          <a:xfrm>
            <a:off x="548640" y="150876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IconCircle"/>
          <p:cNvSpPr/>
          <p:nvPr/>
        </p:nvSpPr>
        <p:spPr>
          <a:xfrm>
            <a:off x="777240" y="1737360"/>
            <a:ext cx="548640" cy="54864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914400" y="1874520"/>
            <a:ext cx="274320" cy="274320"/>
          </a:xfrm>
          <a:prstGeom prst="rect">
            <a:avLst/>
          </a:prstGeom>
        </p:spPr>
      </p:pic>
      <p:sp>
        <p:nvSpPr>
          <p:cNvPr id="8" name="Text 4"/>
          <p:cNvSpPr txBox="1"/>
          <p:nvPr/>
        </p:nvSpPr>
        <p:spPr>
          <a:xfrm>
            <a:off x="1508760" y="173736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Pricing &amp; Promotions Manager</a:t>
            </a:r>
            <a:endParaRPr lang="en-US" sz="1600" dirty="0"/>
          </a:p>
        </p:txBody>
      </p:sp>
      <p:sp>
        <p:nvSpPr>
          <p:cNvPr id="9" name="Text 5"/>
          <p:cNvSpPr txBox="1"/>
          <p:nvPr/>
        </p:nvSpPr>
        <p:spPr>
          <a:xfrm>
            <a:off x="777240" y="242316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Building next season's promotion calendar.</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Promoted sales earn 16.7% margin vs 25.4% with no promotion.</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Set a margin floor and cap discount depth before approval.</a:t>
            </a:r>
            <a:endParaRPr lang="en-US" sz="1400" dirty="0"/>
          </a:p>
        </p:txBody>
      </p:sp>
      <p:sp>
        <p:nvSpPr>
          <p:cNvPr id="10" name="Card"/>
          <p:cNvSpPr/>
          <p:nvPr/>
        </p:nvSpPr>
        <p:spPr>
          <a:xfrm>
            <a:off x="6190488" y="150876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IconCircle"/>
          <p:cNvSpPr/>
          <p:nvPr/>
        </p:nvSpPr>
        <p:spPr>
          <a:xfrm>
            <a:off x="6419088" y="1737360"/>
            <a:ext cx="548640" cy="54864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6556248" y="1874520"/>
            <a:ext cx="274320" cy="274320"/>
          </a:xfrm>
          <a:prstGeom prst="rect">
            <a:avLst/>
          </a:prstGeom>
        </p:spPr>
      </p:pic>
      <p:sp>
        <p:nvSpPr>
          <p:cNvPr id="13" name="Text 8"/>
          <p:cNvSpPr txBox="1"/>
          <p:nvPr/>
        </p:nvSpPr>
        <p:spPr>
          <a:xfrm>
            <a:off x="7150608" y="173736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Merchandising &amp; Inventory Planner</a:t>
            </a:r>
            <a:endParaRPr lang="en-US" sz="1600" dirty="0"/>
          </a:p>
        </p:txBody>
      </p:sp>
      <p:sp>
        <p:nvSpPr>
          <p:cNvPr id="14" name="Text 9"/>
          <p:cNvSpPr txBox="1"/>
          <p:nvPr/>
        </p:nvSpPr>
        <p:spPr>
          <a:xfrm>
            <a:off x="6419088" y="242316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Clearing excess stock.</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Clearance 35% sold €22.5K but ended at −€2.8K contribution.</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Treat deep clearance as a write-down; bundle slow movers instead.</a:t>
            </a:r>
            <a:endParaRPr lang="en-US" sz="1400" dirty="0"/>
          </a:p>
        </p:txBody>
      </p:sp>
      <p:sp>
        <p:nvSpPr>
          <p:cNvPr id="15" name="Card"/>
          <p:cNvSpPr/>
          <p:nvPr/>
        </p:nvSpPr>
        <p:spPr>
          <a:xfrm>
            <a:off x="548640" y="388620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IconCircle"/>
          <p:cNvSpPr/>
          <p:nvPr/>
        </p:nvSpPr>
        <p:spPr>
          <a:xfrm>
            <a:off x="777240" y="4114800"/>
            <a:ext cx="548640" cy="548640"/>
          </a:xfrm>
          <a:prstGeom prst="ellipse">
            <a:avLst/>
          </a:prstGeom>
          <a:solidFill>
            <a:schemeClr val="accent1"/>
          </a:solidFill>
          <a:ln w="12700">
            <a:solidFill>
              <a:schemeClr val="accent1"/>
            </a:solidFill>
            <a:prstDash val="solid"/>
          </a:ln>
        </p:spPr>
      </p:sp>
      <p:pic>
        <p:nvPicPr>
          <p:cNvPr id="17" name="Image 2" descr="icon">    </p:cNvPr>
          <p:cNvPicPr>
            <a:picLocks noChangeAspect="1"/>
          </p:cNvPicPr>
          <p:nvPr/>
        </p:nvPicPr>
        <p:blipFill>
          <a:blip r:embed="rId3"/>
          <a:stretch>
            <a:fillRect/>
          </a:stretch>
        </p:blipFill>
        <p:spPr>
          <a:xfrm>
            <a:off x="914400" y="4251960"/>
            <a:ext cx="274320" cy="274320"/>
          </a:xfrm>
          <a:prstGeom prst="rect">
            <a:avLst/>
          </a:prstGeom>
        </p:spPr>
      </p:pic>
      <p:sp>
        <p:nvSpPr>
          <p:cNvPr id="18" name="Text 12"/>
          <p:cNvSpPr txBox="1"/>
          <p:nvPr/>
        </p:nvSpPr>
        <p:spPr>
          <a:xfrm>
            <a:off x="1508760" y="411480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Finance / FP&amp;A</a:t>
            </a:r>
            <a:endParaRPr lang="en-US" sz="1600" dirty="0"/>
          </a:p>
        </p:txBody>
      </p:sp>
      <p:sp>
        <p:nvSpPr>
          <p:cNvPr id="19" name="Text 13"/>
          <p:cNvSpPr txBox="1"/>
          <p:nvPr/>
        </p:nvSpPr>
        <p:spPr>
          <a:xfrm>
            <a:off x="777240" y="480060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Approving promotion budgets.</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Bundle &amp; Save returns ~€8.50 margin per €1 spent; Welcome 15% about €1.20.</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Require a minimum margin-per-€ before a campaign is funded.</a:t>
            </a:r>
            <a:endParaRPr lang="en-US" sz="1400" dirty="0"/>
          </a:p>
        </p:txBody>
      </p:sp>
      <p:sp>
        <p:nvSpPr>
          <p:cNvPr id="20" name="Card"/>
          <p:cNvSpPr/>
          <p:nvPr/>
        </p:nvSpPr>
        <p:spPr>
          <a:xfrm>
            <a:off x="6190488" y="388620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1" name="IconCircle"/>
          <p:cNvSpPr/>
          <p:nvPr/>
        </p:nvSpPr>
        <p:spPr>
          <a:xfrm>
            <a:off x="6419088" y="4114800"/>
            <a:ext cx="548640" cy="548640"/>
          </a:xfrm>
          <a:prstGeom prst="ellipse">
            <a:avLst/>
          </a:prstGeom>
          <a:solidFill>
            <a:schemeClr val="accent1"/>
          </a:solidFill>
          <a:ln w="12700">
            <a:solidFill>
              <a:schemeClr val="accent1"/>
            </a:solidFill>
            <a:prstDash val="solid"/>
          </a:ln>
        </p:spPr>
      </p:sp>
      <p:pic>
        <p:nvPicPr>
          <p:cNvPr id="22" name="Image 3" descr="icon">    </p:cNvPr>
          <p:cNvPicPr>
            <a:picLocks noChangeAspect="1"/>
          </p:cNvPicPr>
          <p:nvPr/>
        </p:nvPicPr>
        <p:blipFill>
          <a:blip r:embed="rId4"/>
          <a:stretch>
            <a:fillRect/>
          </a:stretch>
        </p:blipFill>
        <p:spPr>
          <a:xfrm>
            <a:off x="6556248" y="4251960"/>
            <a:ext cx="274320" cy="274320"/>
          </a:xfrm>
          <a:prstGeom prst="rect">
            <a:avLst/>
          </a:prstGeom>
        </p:spPr>
      </p:pic>
      <p:sp>
        <p:nvSpPr>
          <p:cNvPr id="23" name="Text 16"/>
          <p:cNvSpPr txBox="1"/>
          <p:nvPr/>
        </p:nvSpPr>
        <p:spPr>
          <a:xfrm>
            <a:off x="7150608" y="411480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Growth &amp; Acquisition Lead</a:t>
            </a:r>
            <a:endParaRPr lang="en-US" sz="1600" dirty="0"/>
          </a:p>
        </p:txBody>
      </p:sp>
      <p:sp>
        <p:nvSpPr>
          <p:cNvPr id="24" name="Text 17"/>
          <p:cNvSpPr txBox="1"/>
          <p:nvPr/>
        </p:nvSpPr>
        <p:spPr>
          <a:xfrm>
            <a:off x="6419088" y="480060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Designing the new-customer offer.</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Welcome 15% is the largest cost line (€7.4K) for ~11–12% margin.</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Test a free-shipping welcome offer (21.2% margin at 4.05% cost).</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3 · CUSTOMER VALUE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Customer Value: questions answered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926080"/>
                <a:gridCol w="3383280"/>
                <a:gridCol w="4754880"/>
              </a:tblGrid>
              <a:tr h="365760">
                <a:tc>
                  <a:txBody>
                    <a:bodyPr/>
                    <a:lstStyle/>
                    <a:p>
                      <a:pPr indent="0" marL="0">
                        <a:buNone/>
                      </a:pPr>
                      <a:r>
                        <a:rPr lang="en-US" sz="1200" b="1" dirty="0">
                          <a:solidFill>
                            <a:schemeClr val="bg1"/>
                          </a:solidFill>
                        </a:rPr>
                        <a:t>Visual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Business question it answers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data shows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r>
              <a:tr h="822960">
                <a:tc>
                  <a:txBody>
                    <a:bodyPr/>
                    <a:lstStyle/>
                    <a:p>
                      <a:pPr indent="0" marL="0">
                        <a:buNone/>
                      </a:pPr>
                      <a:r>
                        <a:rPr lang="en-US" sz="1200" b="1" dirty="0">
                          <a:solidFill>
                            <a:schemeClr val="tx1"/>
                          </a:solidFill>
                        </a:rPr>
                        <a:t>KPI cards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What is a customer worth, per order and in total?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€291.10 revenue and €58.02 margin per customer; AOV €109.05; 2.7 orders per customer (5,873 / 2,200).</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868680">
                <a:tc>
                  <a:txBody>
                    <a:bodyPr/>
                    <a:lstStyle/>
                    <a:p>
                      <a:pPr indent="0" marL="0">
                        <a:buNone/>
                      </a:pPr>
                      <a:r>
                        <a:rPr lang="en-US" sz="1200" b="1" dirty="0">
                          <a:solidFill>
                            <a:schemeClr val="tx1"/>
                          </a:solidFill>
                        </a:rPr>
                        <a:t>Net Sales and Contribution Margin % by segment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Which segments drive sales, and which keep their margin?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Loyal (€166K) and Growth (€165K) lead sales; VIP has the best margin (25.9%), Deal Seeker the worst (9.3%).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914400">
                <a:tc>
                  <a:txBody>
                    <a:bodyPr/>
                    <a:lstStyle/>
                    <a:p>
                      <a:pPr indent="0" marL="0">
                        <a:buNone/>
                      </a:pPr>
                      <a:r>
                        <a:rPr lang="en-US" sz="1200" b="1" dirty="0">
                          <a:solidFill>
                            <a:schemeClr val="tx1"/>
                          </a:solidFill>
                        </a:rPr>
                        <a:t>Customer Lifecycle Progression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How does the customer base evolve after acquisition?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2.2K at acquisition, 0.9K developing (0–3 months), 1.2K early repeat (4–6), 0.7K at 7–12 and 0.1K at 13–18 months.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868680">
                <a:tc>
                  <a:txBody>
                    <a:bodyPr/>
                    <a:lstStyle/>
                    <a:p>
                      <a:pPr indent="0" marL="0">
                        <a:buNone/>
                      </a:pPr>
                      <a:r>
                        <a:rPr lang="en-US" sz="1200" b="1" dirty="0">
                          <a:solidFill>
                            <a:schemeClr val="tx1"/>
                          </a:solidFill>
                        </a:rPr>
                        <a:t>Customer Segment Distribution (table)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big and how valuable is each segment per customer?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VIP: 131 customers, €716.65 revenue and €185.49 margin each. New: 624 customers, €160.18 and €29.44.</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868680">
                <a:tc>
                  <a:txBody>
                    <a:bodyPr/>
                    <a:lstStyle/>
                    <a:p>
                      <a:pPr indent="0" marL="0">
                        <a:buNone/>
                      </a:pPr>
                      <a:r>
                        <a:rPr lang="en-US" sz="1200" b="1" dirty="0">
                          <a:solidFill>
                            <a:schemeClr val="tx1"/>
                          </a:solidFill>
                        </a:rPr>
                        <a:t>Acquisition Channels by segment (heatmap)</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channels bring which kinds of customers?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Email/CRM brings 48 of 131 VIPs; Paid Social brings 89 of 235 Deal Seekers but only 8 VIPs.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3 · CUSTOMER VALUE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Value is concentrated in a few segments</a:t>
            </a:r>
            <a:endParaRPr lang="en-US" sz="3200" dirty="0"/>
          </a:p>
        </p:txBody>
      </p:sp>
      <p:sp>
        <p:nvSpPr>
          <p:cNvPr id="5" name="Text 2"/>
          <p:cNvSpPr txBox="1"/>
          <p:nvPr/>
        </p:nvSpPr>
        <p:spPr>
          <a:xfrm>
            <a:off x="548640" y="1508760"/>
            <a:ext cx="6766560" cy="274320"/>
          </a:xfrm>
          <a:prstGeom prst="rect">
            <a:avLst/>
          </a:prstGeom>
          <a:noFill/>
          <a:ln/>
        </p:spPr>
        <p:txBody>
          <a:bodyPr wrap="square" lIns="0" tIns="0" rIns="0" bIns="0" rtlCol="0" anchor="t"/>
          <a:lstStyle/>
          <a:p>
            <a:pPr indent="0" marL="0">
              <a:buNone/>
            </a:pPr>
            <a:r>
              <a:rPr lang="en-US" sz="1400" b="1" dirty="0">
                <a:solidFill>
                  <a:schemeClr val="tx2"/>
                </a:solidFill>
              </a:rPr>
              <a:t>Share of customers vs share of contribution margin, by segment</a:t>
            </a:r>
            <a:endParaRPr lang="en-US" sz="1400" dirty="0"/>
          </a:p>
        </p:txBody>
      </p:sp>
      <p:graphicFrame>
        <p:nvGraphicFramePr>
          <p:cNvPr id="6" name="Chart 0" descr=""/>
          <p:cNvGraphicFramePr/>
          <p:nvPr/>
        </p:nvGraphicFramePr>
        <p:xfrm>
          <a:off x="548640" y="178308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7" name="Card"/>
          <p:cNvSpPr/>
          <p:nvPr/>
        </p:nvSpPr>
        <p:spPr>
          <a:xfrm>
            <a:off x="7589520" y="1508760"/>
            <a:ext cx="4023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8" name="Text 4"/>
          <p:cNvSpPr txBox="1"/>
          <p:nvPr/>
        </p:nvSpPr>
        <p:spPr>
          <a:xfrm>
            <a:off x="7818120" y="1618488"/>
            <a:ext cx="356616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 → 19%</a:t>
            </a:r>
            <a:endParaRPr lang="en-US" sz="2400" dirty="0"/>
          </a:p>
        </p:txBody>
      </p:sp>
      <p:sp>
        <p:nvSpPr>
          <p:cNvPr id="9" name="Text 5"/>
          <p:cNvSpPr txBox="1"/>
          <p:nvPr/>
        </p:nvSpPr>
        <p:spPr>
          <a:xfrm>
            <a:off x="7818120" y="2075688"/>
            <a:ext cx="3566160" cy="777240"/>
          </a:xfrm>
          <a:prstGeom prst="rect">
            <a:avLst/>
          </a:prstGeom>
          <a:noFill/>
          <a:ln/>
        </p:spPr>
        <p:txBody>
          <a:bodyPr wrap="square" lIns="0" tIns="0" rIns="0" bIns="0" rtlCol="0" anchor="t"/>
          <a:lstStyle/>
          <a:p>
            <a:pPr indent="0" marL="0">
              <a:buNone/>
            </a:pPr>
            <a:r>
              <a:rPr lang="en-US" sz="1400" dirty="0">
                <a:solidFill>
                  <a:schemeClr val="tx1"/>
                </a:solidFill>
              </a:rPr>
              <a:t>VIP customers are 6% of the base but 19% of contribution margin and 15% of net sales.</a:t>
            </a:r>
            <a:endParaRPr lang="en-US" sz="1400" dirty="0"/>
          </a:p>
        </p:txBody>
      </p:sp>
      <p:sp>
        <p:nvSpPr>
          <p:cNvPr id="10" name="Card"/>
          <p:cNvSpPr/>
          <p:nvPr/>
        </p:nvSpPr>
        <p:spPr>
          <a:xfrm>
            <a:off x="7589520" y="3081528"/>
            <a:ext cx="4023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Text 7"/>
          <p:cNvSpPr txBox="1"/>
          <p:nvPr/>
        </p:nvSpPr>
        <p:spPr>
          <a:xfrm>
            <a:off x="7818120" y="3191256"/>
            <a:ext cx="356616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47% → 73%</a:t>
            </a:r>
            <a:endParaRPr lang="en-US" sz="2400" dirty="0"/>
          </a:p>
        </p:txBody>
      </p:sp>
      <p:sp>
        <p:nvSpPr>
          <p:cNvPr id="12" name="Text 8"/>
          <p:cNvSpPr txBox="1"/>
          <p:nvPr/>
        </p:nvSpPr>
        <p:spPr>
          <a:xfrm>
            <a:off x="7818120" y="3648456"/>
            <a:ext cx="3566160" cy="777240"/>
          </a:xfrm>
          <a:prstGeom prst="rect">
            <a:avLst/>
          </a:prstGeom>
          <a:noFill/>
          <a:ln/>
        </p:spPr>
        <p:txBody>
          <a:bodyPr wrap="square" lIns="0" tIns="0" rIns="0" bIns="0" rtlCol="0" anchor="t"/>
          <a:lstStyle/>
          <a:p>
            <a:pPr indent="0" marL="0">
              <a:buNone/>
            </a:pPr>
            <a:r>
              <a:rPr lang="en-US" sz="1400" dirty="0">
                <a:solidFill>
                  <a:schemeClr val="tx1"/>
                </a:solidFill>
              </a:rPr>
              <a:t>Loyal, Growth and VIP together hold 47% of customers and 73% of margin.</a:t>
            </a:r>
            <a:endParaRPr lang="en-US" sz="1400" dirty="0"/>
          </a:p>
        </p:txBody>
      </p:sp>
      <p:sp>
        <p:nvSpPr>
          <p:cNvPr id="13" name="Card"/>
          <p:cNvSpPr/>
          <p:nvPr/>
        </p:nvSpPr>
        <p:spPr>
          <a:xfrm>
            <a:off x="7589520" y="4654296"/>
            <a:ext cx="4023360"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Text 10"/>
          <p:cNvSpPr txBox="1"/>
          <p:nvPr/>
        </p:nvSpPr>
        <p:spPr>
          <a:xfrm>
            <a:off x="7818120" y="4764024"/>
            <a:ext cx="3566160" cy="41148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25% → 12%</a:t>
            </a:r>
            <a:endParaRPr lang="en-US" sz="2400" dirty="0"/>
          </a:p>
        </p:txBody>
      </p:sp>
      <p:sp>
        <p:nvSpPr>
          <p:cNvPr id="15" name="Text 11"/>
          <p:cNvSpPr txBox="1"/>
          <p:nvPr/>
        </p:nvSpPr>
        <p:spPr>
          <a:xfrm>
            <a:off x="7818120" y="5221224"/>
            <a:ext cx="3566160" cy="777240"/>
          </a:xfrm>
          <a:prstGeom prst="rect">
            <a:avLst/>
          </a:prstGeom>
          <a:noFill/>
          <a:ln/>
        </p:spPr>
        <p:txBody>
          <a:bodyPr wrap="square" lIns="0" tIns="0" rIns="0" bIns="0" rtlCol="0" anchor="t"/>
          <a:lstStyle/>
          <a:p>
            <a:pPr indent="0" marL="0">
              <a:buNone/>
            </a:pPr>
            <a:r>
              <a:rPr lang="en-US" sz="1400" dirty="0">
                <a:solidFill>
                  <a:schemeClr val="tx1"/>
                </a:solidFill>
              </a:rPr>
              <a:t>Deal Seeker and At Risk are 25% of customers but 12% of margin; Deal Seekers earn only 9.3% margin.</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3 · CUSTOMER VALUE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Lifecycle drop-off and channel quality</a:t>
            </a:r>
            <a:endParaRPr lang="en-US" sz="3200" dirty="0"/>
          </a:p>
        </p:txBody>
      </p:sp>
      <p:sp>
        <p:nvSpPr>
          <p:cNvPr id="5" name="Text 2"/>
          <p:cNvSpPr txBox="1"/>
          <p:nvPr/>
        </p:nvSpPr>
        <p:spPr>
          <a:xfrm>
            <a:off x="548640" y="1508760"/>
            <a:ext cx="5394960" cy="274320"/>
          </a:xfrm>
          <a:prstGeom prst="rect">
            <a:avLst/>
          </a:prstGeom>
          <a:noFill/>
          <a:ln/>
        </p:spPr>
        <p:txBody>
          <a:bodyPr wrap="square" lIns="0" tIns="0" rIns="0" bIns="0" rtlCol="0" anchor="t"/>
          <a:lstStyle/>
          <a:p>
            <a:pPr indent="0" marL="0">
              <a:buNone/>
            </a:pPr>
            <a:r>
              <a:rPr lang="en-US" sz="1400" b="1" dirty="0">
                <a:solidFill>
                  <a:schemeClr val="tx2"/>
                </a:solidFill>
              </a:rPr>
              <a:t>Customers by lifecycle stage and months since acquisition (approx.)</a:t>
            </a:r>
            <a:endParaRPr lang="en-US" sz="1400" dirty="0"/>
          </a:p>
        </p:txBody>
      </p:sp>
      <p:graphicFrame>
        <p:nvGraphicFramePr>
          <p:cNvPr id="6" name="Chart 0" descr=""/>
          <p:cNvGraphicFramePr/>
          <p:nvPr/>
        </p:nvGraphicFramePr>
        <p:xfrm>
          <a:off x="548640" y="1783080"/>
          <a:ext cx="5394960" cy="27432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4617720"/>
            <a:ext cx="5394960" cy="1554480"/>
          </a:xfrm>
          <a:prstGeom prst="rect">
            <a:avLst/>
          </a:prstGeom>
          <a:noFill/>
          <a:ln/>
        </p:spPr>
        <p:txBody>
          <a:bodyPr wrap="square" lIns="0" tIns="0" rIns="0" bIns="0" rtlCol="0" anchor="t"/>
          <a:lstStyle/>
          <a:p>
            <a:pPr indent="0" marL="0">
              <a:buNone/>
            </a:pPr>
            <a:r>
              <a:rPr lang="en-US" sz="1400" dirty="0">
                <a:solidFill>
                  <a:schemeClr val="tx1"/>
                </a:solidFill>
              </a:rPr>
              <a:t>Acquisition and Developing fall in months 0–3; Early repeat in months 4–6. Most customers sit at the acquisition stage (2.2K). Only 0.7K remain active at 7–12 months, so the 4–6 month window (1.2K early repeaters) is the key moment to lock in repeat purchase. The 13–18 month tail covers only the earliest cohorts.</a:t>
            </a:r>
            <a:endParaRPr lang="en-US" sz="1400" dirty="0"/>
          </a:p>
        </p:txBody>
      </p:sp>
      <p:sp>
        <p:nvSpPr>
          <p:cNvPr id="8" name="Text 4"/>
          <p:cNvSpPr txBox="1"/>
          <p:nvPr/>
        </p:nvSpPr>
        <p:spPr>
          <a:xfrm>
            <a:off x="6309360" y="1508760"/>
            <a:ext cx="5303520" cy="274320"/>
          </a:xfrm>
          <a:prstGeom prst="rect">
            <a:avLst/>
          </a:prstGeom>
          <a:noFill/>
          <a:ln/>
        </p:spPr>
        <p:txBody>
          <a:bodyPr wrap="square" lIns="0" tIns="0" rIns="0" bIns="0" rtlCol="0" anchor="t"/>
          <a:lstStyle/>
          <a:p>
            <a:pPr indent="0" marL="0">
              <a:buNone/>
            </a:pPr>
            <a:r>
              <a:rPr lang="en-US" sz="1400" b="1" dirty="0">
                <a:solidFill>
                  <a:schemeClr val="tx2"/>
                </a:solidFill>
              </a:rPr>
              <a:t>Share of each channel's customers that are VIP or Deal Seeker</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309360" y="1874520"/>
          <a:ext cx="5303520" cy="914400"/>
        </p:xfrm>
        <a:graphic>
          <a:graphicData uri="http://schemas.openxmlformats.org/drawingml/2006/table">
            <a:tbl>
              <a:tblPr/>
              <a:tblGrid>
                <a:gridCol w="1737360"/>
                <a:gridCol w="1188720"/>
                <a:gridCol w="1097280"/>
                <a:gridCol w="1280160"/>
              </a:tblGrid>
              <a:tr h="384048">
                <a:tc>
                  <a:txBody>
                    <a:bodyPr/>
                    <a:lstStyle/>
                    <a:p>
                      <a:pPr algn="l" indent="0" marL="0">
                        <a:buNone/>
                      </a:pPr>
                      <a:r>
                        <a:rPr lang="en-US" sz="1200" b="1" dirty="0">
                          <a:solidFill>
                            <a:schemeClr val="bg1"/>
                          </a:solidFill>
                        </a:rPr>
                        <a:t>Channel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Customers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VIP %</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Deal Seeker %</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Email / CRM</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328</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14.6%</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8FB39D"/>
                    </a:solidFill>
                  </a:tcPr>
                </a:tc>
                <a:tc>
                  <a:txBody>
                    <a:bodyPr/>
                    <a:lstStyle/>
                    <a:p>
                      <a:pPr algn="ctr" indent="0" marL="0">
                        <a:buNone/>
                      </a:pPr>
                      <a:r>
                        <a:rPr lang="en-US" sz="1200" dirty="0">
                          <a:solidFill>
                            <a:schemeClr val="tx1"/>
                          </a:solidFill>
                        </a:rPr>
                        <a:t>5.5%</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F5E0DE"/>
                    </a:solidFill>
                  </a:tcPr>
                </a:tc>
              </a:tr>
              <a:tr h="384048">
                <a:tc>
                  <a:txBody>
                    <a:bodyPr/>
                    <a:lstStyle/>
                    <a:p>
                      <a:pPr indent="0" marL="0">
                        <a:buNone/>
                      </a:pPr>
                      <a:r>
                        <a:rPr lang="en-US" sz="1200" b="1" dirty="0">
                          <a:solidFill>
                            <a:schemeClr val="tx1"/>
                          </a:solidFill>
                        </a:rPr>
                        <a:t>Direct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216</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7.9%</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C3D6CA"/>
                    </a:solidFill>
                  </a:tcPr>
                </a:tc>
                <a:tc>
                  <a:txBody>
                    <a:bodyPr/>
                    <a:lstStyle/>
                    <a:p>
                      <a:pPr algn="ctr" indent="0" marL="0">
                        <a:buNone/>
                      </a:pPr>
                      <a:r>
                        <a:rPr lang="en-US" sz="1200" dirty="0">
                          <a:solidFill>
                            <a:schemeClr val="tx1"/>
                          </a:solidFill>
                        </a:rPr>
                        <a:t>6.0%</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F4DDDB"/>
                    </a:solidFill>
                  </a:tcPr>
                </a:tc>
              </a:tr>
              <a:tr h="384048">
                <a:tc>
                  <a:txBody>
                    <a:bodyPr/>
                    <a:lstStyle/>
                    <a:p>
                      <a:pPr indent="0" marL="0">
                        <a:buNone/>
                      </a:pPr>
                      <a:r>
                        <a:rPr lang="en-US" sz="1200" b="1" dirty="0">
                          <a:solidFill>
                            <a:schemeClr val="tx1"/>
                          </a:solidFill>
                        </a:rPr>
                        <a:t>Organic Search</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477</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6.5%</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CDDDD4"/>
                    </a:solidFill>
                  </a:tcPr>
                </a:tc>
                <a:tc>
                  <a:txBody>
                    <a:bodyPr/>
                    <a:lstStyle/>
                    <a:p>
                      <a:pPr algn="ctr" indent="0" marL="0">
                        <a:buNone/>
                      </a:pPr>
                      <a:r>
                        <a:rPr lang="en-US" sz="1200" dirty="0">
                          <a:solidFill>
                            <a:schemeClr val="tx1"/>
                          </a:solidFill>
                        </a:rPr>
                        <a:t>5.0%</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F6E3E1"/>
                    </a:solidFill>
                  </a:tcPr>
                </a:tc>
              </a:tr>
              <a:tr h="384048">
                <a:tc>
                  <a:txBody>
                    <a:bodyPr/>
                    <a:lstStyle/>
                    <a:p>
                      <a:pPr indent="0" marL="0">
                        <a:buNone/>
                      </a:pPr>
                      <a:r>
                        <a:rPr lang="en-US" sz="1200" b="1" dirty="0">
                          <a:solidFill>
                            <a:schemeClr val="tx1"/>
                          </a:solidFill>
                        </a:rPr>
                        <a:t>Affiliate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241</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4.1%</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DFE9E3"/>
                    </a:solidFill>
                  </a:tcPr>
                </a:tc>
                <a:tc>
                  <a:txBody>
                    <a:bodyPr/>
                    <a:lstStyle/>
                    <a:p>
                      <a:pPr algn="ctr" indent="0" marL="0">
                        <a:buNone/>
                      </a:pPr>
                      <a:r>
                        <a:rPr lang="en-US" sz="1200" dirty="0">
                          <a:solidFill>
                            <a:schemeClr val="tx1"/>
                          </a:solidFill>
                        </a:rPr>
                        <a:t>20.3%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DA8C84"/>
                    </a:solidFill>
                  </a:tcPr>
                </a:tc>
              </a:tr>
              <a:tr h="384048">
                <a:tc>
                  <a:txBody>
                    <a:bodyPr/>
                    <a:lstStyle/>
                    <a:p>
                      <a:pPr indent="0" marL="0">
                        <a:buNone/>
                      </a:pPr>
                      <a:r>
                        <a:rPr lang="en-US" sz="1200" b="1" dirty="0">
                          <a:solidFill>
                            <a:schemeClr val="tx1"/>
                          </a:solidFill>
                        </a:rPr>
                        <a:t>Paid Search</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411</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4.1%</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DFE9E3"/>
                    </a:solidFill>
                  </a:tcPr>
                </a:tc>
                <a:tc>
                  <a:txBody>
                    <a:bodyPr/>
                    <a:lstStyle/>
                    <a:p>
                      <a:pPr algn="ctr" indent="0" marL="0">
                        <a:buNone/>
                      </a:pPr>
                      <a:r>
                        <a:rPr lang="en-US" sz="1200" dirty="0">
                          <a:solidFill>
                            <a:schemeClr val="tx1"/>
                          </a:solidFill>
                        </a:rPr>
                        <a:t>10.2%</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EDC5C1"/>
                    </a:solidFill>
                  </a:tcPr>
                </a:tc>
              </a:tr>
              <a:tr h="384048">
                <a:tc>
                  <a:txBody>
                    <a:bodyPr/>
                    <a:lstStyle/>
                    <a:p>
                      <a:pPr indent="0" marL="0">
                        <a:buNone/>
                      </a:pPr>
                      <a:r>
                        <a:rPr lang="en-US" sz="1200" b="1" dirty="0">
                          <a:solidFill>
                            <a:schemeClr val="tx1"/>
                          </a:solidFill>
                        </a:rPr>
                        <a:t>Paid Social</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527</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1.5%</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F3F7F5"/>
                    </a:solidFill>
                  </a:tcPr>
                </a:tc>
                <a:tc>
                  <a:txBody>
                    <a:bodyPr/>
                    <a:lstStyle/>
                    <a:p>
                      <a:pPr algn="ctr" indent="0" marL="0">
                        <a:buNone/>
                      </a:pPr>
                      <a:r>
                        <a:rPr lang="en-US" sz="1200" dirty="0">
                          <a:solidFill>
                            <a:schemeClr val="tx1"/>
                          </a:solidFill>
                        </a:rPr>
                        <a:t>16.9%</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rgbClr val="E19F99"/>
                    </a:solidFill>
                  </a:tcPr>
                </a:tc>
              </a:tr>
            </a:tbl>
          </a:graphicData>
        </a:graphic>
      </p:graphicFrame>
      <p:sp>
        <p:nvSpPr>
          <p:cNvPr id="10" name="Text 5"/>
          <p:cNvSpPr txBox="1"/>
          <p:nvPr/>
        </p:nvSpPr>
        <p:spPr>
          <a:xfrm>
            <a:off x="6309360" y="4663440"/>
            <a:ext cx="5303520" cy="1463040"/>
          </a:xfrm>
          <a:prstGeom prst="rect">
            <a:avLst/>
          </a:prstGeom>
          <a:noFill/>
          <a:ln/>
        </p:spPr>
        <p:txBody>
          <a:bodyPr wrap="square" lIns="0" tIns="0" rIns="0" bIns="0" rtlCol="0" anchor="t"/>
          <a:lstStyle/>
          <a:p>
            <a:pPr indent="0" marL="0">
              <a:buNone/>
            </a:pPr>
            <a:r>
              <a:rPr lang="en-US" sz="1400" dirty="0">
                <a:solidFill>
                  <a:schemeClr val="tx1"/>
                </a:solidFill>
              </a:rPr>
              <a:t>Email/CRM is the best source of VIPs (14.6% of its customers). Paid Social (1.5% VIP, 16.9% Deal Seeker) and Affiliate (20.3% Deal Seeker) skew toward bargain hunters.</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PAGE 3 · CUSTOMER VALUE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Customer Value: stakeholder scenarios</a:t>
            </a:r>
            <a:endParaRPr lang="en-US" sz="3200" dirty="0"/>
          </a:p>
        </p:txBody>
      </p:sp>
      <p:sp>
        <p:nvSpPr>
          <p:cNvPr id="5" name="Card"/>
          <p:cNvSpPr/>
          <p:nvPr/>
        </p:nvSpPr>
        <p:spPr>
          <a:xfrm>
            <a:off x="548640" y="150876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IconCircle"/>
          <p:cNvSpPr/>
          <p:nvPr/>
        </p:nvSpPr>
        <p:spPr>
          <a:xfrm>
            <a:off x="777240" y="1737360"/>
            <a:ext cx="548640" cy="54864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914400" y="1874520"/>
            <a:ext cx="274320" cy="274320"/>
          </a:xfrm>
          <a:prstGeom prst="rect">
            <a:avLst/>
          </a:prstGeom>
        </p:spPr>
      </p:pic>
      <p:sp>
        <p:nvSpPr>
          <p:cNvPr id="8" name="Text 4"/>
          <p:cNvSpPr txBox="1"/>
          <p:nvPr/>
        </p:nvSpPr>
        <p:spPr>
          <a:xfrm>
            <a:off x="1508760" y="173736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CRM &amp; Retention Manager</a:t>
            </a:r>
            <a:endParaRPr lang="en-US" sz="1600" dirty="0"/>
          </a:p>
        </p:txBody>
      </p:sp>
      <p:sp>
        <p:nvSpPr>
          <p:cNvPr id="9" name="Text 5"/>
          <p:cNvSpPr txBox="1"/>
          <p:nvPr/>
        </p:nvSpPr>
        <p:spPr>
          <a:xfrm>
            <a:off x="777240" y="242316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Win-back and repeat-purchase journeys.</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307 At Risk customers (14% of base) still hold €58.4K in net sales.</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Trigger win-back early and track At Risk to Loyal conversion.</a:t>
            </a:r>
            <a:endParaRPr lang="en-US" sz="1400" dirty="0"/>
          </a:p>
        </p:txBody>
      </p:sp>
      <p:sp>
        <p:nvSpPr>
          <p:cNvPr id="10" name="Card"/>
          <p:cNvSpPr/>
          <p:nvPr/>
        </p:nvSpPr>
        <p:spPr>
          <a:xfrm>
            <a:off x="6190488" y="150876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IconCircle"/>
          <p:cNvSpPr/>
          <p:nvPr/>
        </p:nvSpPr>
        <p:spPr>
          <a:xfrm>
            <a:off x="6419088" y="1737360"/>
            <a:ext cx="548640" cy="54864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6556248" y="1874520"/>
            <a:ext cx="274320" cy="274320"/>
          </a:xfrm>
          <a:prstGeom prst="rect">
            <a:avLst/>
          </a:prstGeom>
        </p:spPr>
      </p:pic>
      <p:sp>
        <p:nvSpPr>
          <p:cNvPr id="13" name="Text 8"/>
          <p:cNvSpPr txBox="1"/>
          <p:nvPr/>
        </p:nvSpPr>
        <p:spPr>
          <a:xfrm>
            <a:off x="7150608" y="173736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Loyalty &amp; VIP Programme Owner</a:t>
            </a:r>
            <a:endParaRPr lang="en-US" sz="1600" dirty="0"/>
          </a:p>
        </p:txBody>
      </p:sp>
      <p:sp>
        <p:nvSpPr>
          <p:cNvPr id="14" name="Text 9"/>
          <p:cNvSpPr txBox="1"/>
          <p:nvPr/>
        </p:nvSpPr>
        <p:spPr>
          <a:xfrm>
            <a:off x="6419088" y="242316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Protecting the highest-value customers.</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131 VIPs (6%) spend €716.65 each and give 19% of margin.</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Add early access and service perks; monitor VIP churn monthly.</a:t>
            </a:r>
            <a:endParaRPr lang="en-US" sz="1400" dirty="0"/>
          </a:p>
        </p:txBody>
      </p:sp>
      <p:sp>
        <p:nvSpPr>
          <p:cNvPr id="15" name="Card"/>
          <p:cNvSpPr/>
          <p:nvPr/>
        </p:nvSpPr>
        <p:spPr>
          <a:xfrm>
            <a:off x="548640" y="388620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IconCircle"/>
          <p:cNvSpPr/>
          <p:nvPr/>
        </p:nvSpPr>
        <p:spPr>
          <a:xfrm>
            <a:off x="777240" y="4114800"/>
            <a:ext cx="548640" cy="548640"/>
          </a:xfrm>
          <a:prstGeom prst="ellipse">
            <a:avLst/>
          </a:prstGeom>
          <a:solidFill>
            <a:schemeClr val="accent1"/>
          </a:solidFill>
          <a:ln w="12700">
            <a:solidFill>
              <a:schemeClr val="accent1"/>
            </a:solidFill>
            <a:prstDash val="solid"/>
          </a:ln>
        </p:spPr>
      </p:sp>
      <p:pic>
        <p:nvPicPr>
          <p:cNvPr id="17" name="Image 2" descr="icon">    </p:cNvPr>
          <p:cNvPicPr>
            <a:picLocks noChangeAspect="1"/>
          </p:cNvPicPr>
          <p:nvPr/>
        </p:nvPicPr>
        <p:blipFill>
          <a:blip r:embed="rId3"/>
          <a:stretch>
            <a:fillRect/>
          </a:stretch>
        </p:blipFill>
        <p:spPr>
          <a:xfrm>
            <a:off x="914400" y="4251960"/>
            <a:ext cx="274320" cy="274320"/>
          </a:xfrm>
          <a:prstGeom prst="rect">
            <a:avLst/>
          </a:prstGeom>
        </p:spPr>
      </p:pic>
      <p:sp>
        <p:nvSpPr>
          <p:cNvPr id="18" name="Text 12"/>
          <p:cNvSpPr txBox="1"/>
          <p:nvPr/>
        </p:nvSpPr>
        <p:spPr>
          <a:xfrm>
            <a:off x="1508760" y="411480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Acquisition &amp; Insights Lead</a:t>
            </a:r>
            <a:endParaRPr lang="en-US" sz="1600" dirty="0"/>
          </a:p>
        </p:txBody>
      </p:sp>
      <p:sp>
        <p:nvSpPr>
          <p:cNvPr id="19" name="Text 13"/>
          <p:cNvSpPr txBox="1"/>
          <p:nvPr/>
        </p:nvSpPr>
        <p:spPr>
          <a:xfrm>
            <a:off x="777240" y="480060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Targeting quality over volume.</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Paid Social and Affiliate bring 59% of Deal Seekers; Email/CRM brings 37% of VIPs.</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Aim paid channels at Growth/Loyal-like audiences; scale CRM sign-ups.</a:t>
            </a:r>
            <a:endParaRPr lang="en-US" sz="1400" dirty="0"/>
          </a:p>
        </p:txBody>
      </p:sp>
      <p:sp>
        <p:nvSpPr>
          <p:cNvPr id="20" name="Card"/>
          <p:cNvSpPr/>
          <p:nvPr/>
        </p:nvSpPr>
        <p:spPr>
          <a:xfrm>
            <a:off x="6190488" y="3886200"/>
            <a:ext cx="5422392" cy="2240280"/>
          </a:xfrm>
          <a:prstGeom prst="roundRect">
            <a:avLst>
              <a:gd name="adj" fmla="val 40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1" name="IconCircle"/>
          <p:cNvSpPr/>
          <p:nvPr/>
        </p:nvSpPr>
        <p:spPr>
          <a:xfrm>
            <a:off x="6419088" y="4114800"/>
            <a:ext cx="548640" cy="548640"/>
          </a:xfrm>
          <a:prstGeom prst="ellipse">
            <a:avLst/>
          </a:prstGeom>
          <a:solidFill>
            <a:schemeClr val="accent1"/>
          </a:solidFill>
          <a:ln w="12700">
            <a:solidFill>
              <a:schemeClr val="accent1"/>
            </a:solidFill>
            <a:prstDash val="solid"/>
          </a:ln>
        </p:spPr>
      </p:sp>
      <p:pic>
        <p:nvPicPr>
          <p:cNvPr id="22" name="Image 3" descr="icon">    </p:cNvPr>
          <p:cNvPicPr>
            <a:picLocks noChangeAspect="1"/>
          </p:cNvPicPr>
          <p:nvPr/>
        </p:nvPicPr>
        <p:blipFill>
          <a:blip r:embed="rId4"/>
          <a:stretch>
            <a:fillRect/>
          </a:stretch>
        </p:blipFill>
        <p:spPr>
          <a:xfrm>
            <a:off x="6556248" y="4251960"/>
            <a:ext cx="274320" cy="274320"/>
          </a:xfrm>
          <a:prstGeom prst="rect">
            <a:avLst/>
          </a:prstGeom>
        </p:spPr>
      </p:pic>
      <p:sp>
        <p:nvSpPr>
          <p:cNvPr id="23" name="Text 16"/>
          <p:cNvSpPr txBox="1"/>
          <p:nvPr/>
        </p:nvSpPr>
        <p:spPr>
          <a:xfrm>
            <a:off x="7150608" y="4114800"/>
            <a:ext cx="4233672"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Executive Leadership</a:t>
            </a:r>
            <a:endParaRPr lang="en-US" sz="1600" dirty="0"/>
          </a:p>
        </p:txBody>
      </p:sp>
      <p:sp>
        <p:nvSpPr>
          <p:cNvPr id="24" name="Text 17"/>
          <p:cNvSpPr txBox="1"/>
          <p:nvPr/>
        </p:nvSpPr>
        <p:spPr>
          <a:xfrm>
            <a:off x="6419088" y="4800600"/>
            <a:ext cx="4965192" cy="1234440"/>
          </a:xfrm>
          <a:prstGeom prst="rect">
            <a:avLst/>
          </a:prstGeom>
          <a:noFill/>
          <a:ln/>
        </p:spPr>
        <p:txBody>
          <a:bodyPr wrap="square" lIns="0" tIns="0" rIns="0" bIns="0" rtlCol="0" anchor="t"/>
          <a:lstStyle/>
          <a:p>
            <a:pPr indent="0" marL="0">
              <a:buNone/>
            </a:pPr>
            <a:r>
              <a:rPr lang="en-US" sz="1500" b="1" dirty="0">
                <a:solidFill>
                  <a:schemeClr val="accent1"/>
                </a:solidFill>
              </a:rPr>
              <a:t>Scenario: </a:t>
            </a:r>
            <a:pPr indent="0" marL="0">
              <a:spcAft>
                <a:spcPts val="400"/>
              </a:spcAft>
              <a:buNone/>
            </a:pPr>
            <a:r>
              <a:rPr lang="en-US" sz="1500" dirty="0">
                <a:solidFill>
                  <a:schemeClr val="tx1"/>
                </a:solidFill>
              </a:rPr>
              <a:t>Managing value concentration and growth.</a:t>
            </a:r>
            <a:endParaRPr lang="en-US" sz="1400" dirty="0"/>
          </a:p>
          <a:p>
            <a:pPr indent="0" marL="0">
              <a:buNone/>
            </a:pPr>
            <a:r>
              <a:rPr lang="en-US" sz="1500" b="1" dirty="0">
                <a:solidFill>
                  <a:schemeClr val="accent1"/>
                </a:solidFill>
              </a:rPr>
              <a:t>Insight: </a:t>
            </a:r>
            <a:pPr indent="0" marL="0">
              <a:spcAft>
                <a:spcPts val="400"/>
              </a:spcAft>
              <a:buNone/>
            </a:pPr>
            <a:r>
              <a:rPr lang="en-US" sz="1500" dirty="0">
                <a:solidFill>
                  <a:schemeClr val="tx1"/>
                </a:solidFill>
              </a:rPr>
              <a:t>Loyal, Growth and VIP are 47% of customers and 73% of margin.</a:t>
            </a:r>
            <a:endParaRPr lang="en-US" sz="1400" dirty="0"/>
          </a:p>
          <a:p>
            <a:pPr indent="0" marL="0">
              <a:buNone/>
            </a:pPr>
            <a:r>
              <a:rPr lang="en-US" sz="1500" b="1" dirty="0">
                <a:solidFill>
                  <a:schemeClr val="accent1"/>
                </a:solidFill>
              </a:rPr>
              <a:t>Action: </a:t>
            </a:r>
            <a:pPr indent="0" marL="0">
              <a:spcAft>
                <a:spcPts val="400"/>
              </a:spcAft>
              <a:buNone/>
            </a:pPr>
            <a:r>
              <a:rPr lang="en-US" sz="1500" dirty="0">
                <a:solidFill>
                  <a:schemeClr val="tx1"/>
                </a:solidFill>
              </a:rPr>
              <a:t>Add segment KPIs (VIP count, At Risk share) beside net sales.</a:t>
            </a:r>
            <a:endParaRPr lang="en-US" sz="14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SYNTHESIS</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Business scenarios across all three pages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3200400"/>
                <a:gridCol w="822960"/>
                <a:gridCol w="4297680"/>
              </a:tblGrid>
              <a:tr h="365760">
                <a:tc>
                  <a:txBody>
                    <a:bodyPr/>
                    <a:lstStyle/>
                    <a:p>
                      <a:pPr indent="0" marL="0">
                        <a:buNone/>
                      </a:pPr>
                      <a:r>
                        <a:rPr lang="en-US" sz="1200" b="1" dirty="0">
                          <a:solidFill>
                            <a:schemeClr val="bg1"/>
                          </a:solidFill>
                        </a:rPr>
                        <a:t>Stakeholder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Business scenario</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Pages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Question they can now answer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tx2"/>
                    </a:solidFill>
                  </a:tcPr>
                </a:tc>
              </a:tr>
              <a:tr h="603504">
                <a:tc>
                  <a:txBody>
                    <a:bodyPr/>
                    <a:lstStyle/>
                    <a:p>
                      <a:pPr indent="0" marL="0">
                        <a:buNone/>
                      </a:pPr>
                      <a:r>
                        <a:rPr lang="en-US" sz="1200" b="1" dirty="0">
                          <a:solidFill>
                            <a:schemeClr val="tx1"/>
                          </a:solidFill>
                        </a:rPr>
                        <a:t>CMO / Head of Marketing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Annual budget and channel mix</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channels deliver customers worth keeping per € spent?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603504">
                <a:tc>
                  <a:txBody>
                    <a:bodyPr/>
                    <a:lstStyle/>
                    <a:p>
                      <a:pPr indent="0" marL="0">
                        <a:buNone/>
                      </a:pPr>
                      <a:r>
                        <a:rPr lang="en-US" sz="1200" b="1" dirty="0">
                          <a:solidFill>
                            <a:schemeClr val="tx1"/>
                          </a:solidFill>
                        </a:rPr>
                        <a:t>Performance Marketing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Bid, targeting and creative optimisation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Which paid channels attract Growth/Loyal vs Deal Seeker customers?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rPr>
                        <a:t>Pricing &amp; Promotions</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Promotion calendar and discount depth</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Which mechanics protect margin and which erode it?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603504">
                <a:tc>
                  <a:txBody>
                    <a:bodyPr/>
                    <a:lstStyle/>
                    <a:p>
                      <a:pPr indent="0" marL="0">
                        <a:buNone/>
                      </a:pPr>
                      <a:r>
                        <a:rPr lang="en-US" sz="1200" b="1" dirty="0">
                          <a:solidFill>
                            <a:schemeClr val="tx1"/>
                          </a:solidFill>
                        </a:rPr>
                        <a:t>Merchandising &amp; Inventory</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Stock clearance and bundling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 clearance worth its margin cost?</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rPr>
                        <a:t>Finance / FP&amp;A</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Budget approval, forecasting, ROI</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1, 2</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What does each € of marketing and promotion return?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r h="603504">
                <a:tc>
                  <a:txBody>
                    <a:bodyPr/>
                    <a:lstStyle/>
                    <a:p>
                      <a:pPr indent="0" marL="0">
                        <a:buNone/>
                      </a:pPr>
                      <a:r>
                        <a:rPr lang="en-US" sz="1200" b="1" dirty="0">
                          <a:solidFill>
                            <a:schemeClr val="tx1"/>
                          </a:solidFill>
                        </a:rPr>
                        <a:t>CRM &amp; Loyalty</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Retention, win-back and VIP programme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Who is at risk, who is worth protecting, and when?</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rPr>
                        <a:t>Executive / E-commerce Director</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Growth strategy and KPI setting</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1, 2, 3</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Is growth profitable, and how concentrated is value?</a:t>
                      </a:r>
                      <a:endParaRPr lang="en-US" sz="1200" dirty="0"/>
                    </a:p>
                  </a:txBody>
                  <a:tcPr marL="91440" marR="91440" marT="36576" marB="36576" anchor="ctr">
                    <a:lnL w="6350" cap="flat" cmpd="sng" algn="ctr">
                      <a:solidFill>
                        <a:srgbClr val="E3D9C8"/>
                      </a:solidFill>
                      <a:prstDash val="solid"/>
                      <a:round/>
                      <a:headEnd type="none" w="med" len="med"/>
                      <a:tailEnd type="none" w="med" len="med"/>
                    </a:lnL>
                    <a:lnR w="6350" cap="flat" cmpd="sng" algn="ctr">
                      <a:solidFill>
                        <a:srgbClr val="E3D9C8"/>
                      </a:solidFill>
                      <a:prstDash val="solid"/>
                      <a:round/>
                      <a:headEnd type="none" w="med" len="med"/>
                      <a:tailEnd type="none" w="med" len="med"/>
                    </a:lnR>
                    <a:lnT w="6350" cap="flat" cmpd="sng" algn="ctr">
                      <a:solidFill>
                        <a:srgbClr val="E3D9C8"/>
                      </a:solidFill>
                      <a:prstDash val="solid"/>
                      <a:round/>
                      <a:headEnd type="none" w="med" len="med"/>
                      <a:tailEnd type="none" w="med" len="med"/>
                    </a:lnT>
                    <a:lnB w="6350" cap="flat" cmpd="sng" algn="ctr">
                      <a:solidFill>
                        <a:srgbClr val="E3D9C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SYNTHESIS</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Priority actions and expected impact</a:t>
            </a:r>
            <a:endParaRPr lang="en-US" sz="3200" dirty="0"/>
          </a:p>
        </p:txBody>
      </p:sp>
      <p:sp>
        <p:nvSpPr>
          <p:cNvPr id="5" name="Text 2"/>
          <p:cNvSpPr txBox="1"/>
          <p:nvPr/>
        </p:nvSpPr>
        <p:spPr>
          <a:xfrm>
            <a:off x="1417320" y="1463040"/>
            <a:ext cx="45720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ACTION</a:t>
            </a:r>
            <a:endParaRPr lang="en-US" sz="1100" dirty="0"/>
          </a:p>
        </p:txBody>
      </p:sp>
      <p:sp>
        <p:nvSpPr>
          <p:cNvPr id="6" name="Text 3"/>
          <p:cNvSpPr txBox="1"/>
          <p:nvPr/>
        </p:nvSpPr>
        <p:spPr>
          <a:xfrm>
            <a:off x="7223760" y="1463040"/>
            <a:ext cx="18288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OWNER</a:t>
            </a:r>
            <a:endParaRPr lang="en-US" sz="1100" dirty="0"/>
          </a:p>
        </p:txBody>
      </p:sp>
      <p:sp>
        <p:nvSpPr>
          <p:cNvPr id="7" name="Text 4"/>
          <p:cNvSpPr txBox="1"/>
          <p:nvPr/>
        </p:nvSpPr>
        <p:spPr>
          <a:xfrm>
            <a:off x="9418320" y="1463040"/>
            <a:ext cx="18288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TRACK</a:t>
            </a:r>
            <a:endParaRPr lang="en-US" sz="1100" dirty="0"/>
          </a:p>
        </p:txBody>
      </p:sp>
      <p:sp>
        <p:nvSpPr>
          <p:cNvPr id="8" name="Card"/>
          <p:cNvSpPr/>
          <p:nvPr/>
        </p:nvSpPr>
        <p:spPr>
          <a:xfrm>
            <a:off x="548640" y="1783080"/>
            <a:ext cx="11064240" cy="749808"/>
          </a:xfrm>
          <a:prstGeom prst="roundRect">
            <a:avLst>
              <a:gd name="adj" fmla="val 1219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NumCircle"/>
          <p:cNvSpPr/>
          <p:nvPr/>
        </p:nvSpPr>
        <p:spPr>
          <a:xfrm>
            <a:off x="731520" y="1911096"/>
            <a:ext cx="493776" cy="493776"/>
          </a:xfrm>
          <a:prstGeom prst="ellipse">
            <a:avLst/>
          </a:prstGeom>
          <a:solidFill>
            <a:schemeClr val="accent1"/>
          </a:solidFill>
          <a:ln w="12700">
            <a:solidFill>
              <a:schemeClr val="accent1"/>
            </a:solidFill>
            <a:prstDash val="solid"/>
          </a:ln>
        </p:spPr>
      </p:sp>
      <p:sp>
        <p:nvSpPr>
          <p:cNvPr id="10" name="Text 7"/>
          <p:cNvSpPr txBox="1"/>
          <p:nvPr/>
        </p:nvSpPr>
        <p:spPr>
          <a:xfrm>
            <a:off x="731520" y="191109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1417320" y="1783080"/>
            <a:ext cx="5577840" cy="749808"/>
          </a:xfrm>
          <a:prstGeom prst="rect">
            <a:avLst/>
          </a:prstGeom>
          <a:noFill/>
          <a:ln/>
        </p:spPr>
        <p:txBody>
          <a:bodyPr wrap="square" lIns="0" tIns="0" rIns="0" bIns="0" rtlCol="0" anchor="ctr"/>
          <a:lstStyle/>
          <a:p>
            <a:pPr indent="0" marL="0">
              <a:buNone/>
            </a:pPr>
            <a:r>
              <a:rPr lang="en-US" sz="1400" b="1" dirty="0">
                <a:solidFill>
                  <a:schemeClr val="tx1"/>
                </a:solidFill>
              </a:rPr>
              <a:t>Rebalance channel budget toward higher margin-per-customer channels</a:t>
            </a:r>
            <a:endParaRPr lang="en-US" sz="1400" dirty="0"/>
          </a:p>
        </p:txBody>
      </p:sp>
      <p:sp>
        <p:nvSpPr>
          <p:cNvPr id="12" name="Text 9"/>
          <p:cNvSpPr txBox="1"/>
          <p:nvPr/>
        </p:nvSpPr>
        <p:spPr>
          <a:xfrm>
            <a:off x="7223760" y="1783080"/>
            <a:ext cx="2011680" cy="749808"/>
          </a:xfrm>
          <a:prstGeom prst="rect">
            <a:avLst/>
          </a:prstGeom>
          <a:noFill/>
          <a:ln/>
        </p:spPr>
        <p:txBody>
          <a:bodyPr wrap="square" lIns="0" tIns="0" rIns="0" bIns="0" rtlCol="0" anchor="ctr"/>
          <a:lstStyle/>
          <a:p>
            <a:pPr indent="0" marL="0">
              <a:buNone/>
            </a:pPr>
            <a:r>
              <a:rPr lang="en-US" sz="1200" dirty="0">
                <a:solidFill>
                  <a:schemeClr val="tx1"/>
                </a:solidFill>
              </a:rPr>
              <a:t>CMO, Performance Marketing</a:t>
            </a:r>
            <a:endParaRPr lang="en-US" sz="1200" dirty="0"/>
          </a:p>
        </p:txBody>
      </p:sp>
      <p:sp>
        <p:nvSpPr>
          <p:cNvPr id="13" name="Text 10"/>
          <p:cNvSpPr txBox="1"/>
          <p:nvPr/>
        </p:nvSpPr>
        <p:spPr>
          <a:xfrm>
            <a:off x="9418320" y="1783080"/>
            <a:ext cx="2057400" cy="749808"/>
          </a:xfrm>
          <a:prstGeom prst="rect">
            <a:avLst/>
          </a:prstGeom>
          <a:noFill/>
          <a:ln/>
        </p:spPr>
        <p:txBody>
          <a:bodyPr wrap="square" lIns="0" tIns="0" rIns="0" bIns="0" rtlCol="0" anchor="ctr"/>
          <a:lstStyle/>
          <a:p>
            <a:pPr indent="0" marL="0">
              <a:buNone/>
            </a:pPr>
            <a:r>
              <a:rPr lang="en-US" sz="1200" dirty="0">
                <a:solidFill>
                  <a:schemeClr val="tx1"/>
                </a:solidFill>
              </a:rPr>
              <a:t>Cost and margin per customer by channel</a:t>
            </a:r>
            <a:endParaRPr lang="en-US" sz="1200" dirty="0"/>
          </a:p>
        </p:txBody>
      </p:sp>
      <p:sp>
        <p:nvSpPr>
          <p:cNvPr id="14" name="Card"/>
          <p:cNvSpPr/>
          <p:nvPr/>
        </p:nvSpPr>
        <p:spPr>
          <a:xfrm>
            <a:off x="548640" y="2651760"/>
            <a:ext cx="11064240" cy="749808"/>
          </a:xfrm>
          <a:prstGeom prst="roundRect">
            <a:avLst>
              <a:gd name="adj" fmla="val 1219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5" name="NumCircle"/>
          <p:cNvSpPr/>
          <p:nvPr/>
        </p:nvSpPr>
        <p:spPr>
          <a:xfrm>
            <a:off x="731520" y="2779776"/>
            <a:ext cx="493776" cy="493776"/>
          </a:xfrm>
          <a:prstGeom prst="ellipse">
            <a:avLst/>
          </a:prstGeom>
          <a:solidFill>
            <a:schemeClr val="accent1"/>
          </a:solidFill>
          <a:ln w="12700">
            <a:solidFill>
              <a:schemeClr val="accent1"/>
            </a:solidFill>
            <a:prstDash val="solid"/>
          </a:ln>
        </p:spPr>
      </p:sp>
      <p:sp>
        <p:nvSpPr>
          <p:cNvPr id="16" name="Text 13"/>
          <p:cNvSpPr txBox="1"/>
          <p:nvPr/>
        </p:nvSpPr>
        <p:spPr>
          <a:xfrm>
            <a:off x="731520" y="277977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4"/>
          <p:cNvSpPr txBox="1"/>
          <p:nvPr/>
        </p:nvSpPr>
        <p:spPr>
          <a:xfrm>
            <a:off x="1417320" y="2651760"/>
            <a:ext cx="5577840" cy="749808"/>
          </a:xfrm>
          <a:prstGeom prst="rect">
            <a:avLst/>
          </a:prstGeom>
          <a:noFill/>
          <a:ln/>
        </p:spPr>
        <p:txBody>
          <a:bodyPr wrap="square" lIns="0" tIns="0" rIns="0" bIns="0" rtlCol="0" anchor="ctr"/>
          <a:lstStyle/>
          <a:p>
            <a:pPr indent="0" marL="0">
              <a:buNone/>
            </a:pPr>
            <a:r>
              <a:rPr lang="en-US" sz="1400" b="1" dirty="0">
                <a:solidFill>
                  <a:schemeClr val="tx1"/>
                </a:solidFill>
              </a:rPr>
              <a:t>Add margin guardrails to promotions; review Clearance 35% and Weekend Flash 25%</a:t>
            </a:r>
            <a:endParaRPr lang="en-US" sz="1400" dirty="0"/>
          </a:p>
        </p:txBody>
      </p:sp>
      <p:sp>
        <p:nvSpPr>
          <p:cNvPr id="18" name="Text 15"/>
          <p:cNvSpPr txBox="1"/>
          <p:nvPr/>
        </p:nvSpPr>
        <p:spPr>
          <a:xfrm>
            <a:off x="7223760" y="2651760"/>
            <a:ext cx="2011680" cy="749808"/>
          </a:xfrm>
          <a:prstGeom prst="rect">
            <a:avLst/>
          </a:prstGeom>
          <a:noFill/>
          <a:ln/>
        </p:spPr>
        <p:txBody>
          <a:bodyPr wrap="square" lIns="0" tIns="0" rIns="0" bIns="0" rtlCol="0" anchor="ctr"/>
          <a:lstStyle/>
          <a:p>
            <a:pPr indent="0" marL="0">
              <a:buNone/>
            </a:pPr>
            <a:r>
              <a:rPr lang="en-US" sz="1200" dirty="0">
                <a:solidFill>
                  <a:schemeClr val="tx1"/>
                </a:solidFill>
              </a:rPr>
              <a:t>Pricing &amp; Promotions, Finance</a:t>
            </a:r>
            <a:endParaRPr lang="en-US" sz="1200" dirty="0"/>
          </a:p>
        </p:txBody>
      </p:sp>
      <p:sp>
        <p:nvSpPr>
          <p:cNvPr id="19" name="Text 16"/>
          <p:cNvSpPr txBox="1"/>
          <p:nvPr/>
        </p:nvSpPr>
        <p:spPr>
          <a:xfrm>
            <a:off x="9418320" y="2651760"/>
            <a:ext cx="2057400" cy="749808"/>
          </a:xfrm>
          <a:prstGeom prst="rect">
            <a:avLst/>
          </a:prstGeom>
          <a:noFill/>
          <a:ln/>
        </p:spPr>
        <p:txBody>
          <a:bodyPr wrap="square" lIns="0" tIns="0" rIns="0" bIns="0" rtlCol="0" anchor="ctr"/>
          <a:lstStyle/>
          <a:p>
            <a:pPr indent="0" marL="0">
              <a:buNone/>
            </a:pPr>
            <a:r>
              <a:rPr lang="en-US" sz="1200" dirty="0">
                <a:solidFill>
                  <a:schemeClr val="tx1"/>
                </a:solidFill>
              </a:rPr>
              <a:t>Contribution margin % by campaign</a:t>
            </a:r>
            <a:endParaRPr lang="en-US" sz="1200" dirty="0"/>
          </a:p>
        </p:txBody>
      </p:sp>
      <p:sp>
        <p:nvSpPr>
          <p:cNvPr id="20" name="Card"/>
          <p:cNvSpPr/>
          <p:nvPr/>
        </p:nvSpPr>
        <p:spPr>
          <a:xfrm>
            <a:off x="548640" y="3520440"/>
            <a:ext cx="11064240" cy="749808"/>
          </a:xfrm>
          <a:prstGeom prst="roundRect">
            <a:avLst>
              <a:gd name="adj" fmla="val 1219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1" name="NumCircle"/>
          <p:cNvSpPr/>
          <p:nvPr/>
        </p:nvSpPr>
        <p:spPr>
          <a:xfrm>
            <a:off x="731520" y="3648456"/>
            <a:ext cx="493776" cy="493776"/>
          </a:xfrm>
          <a:prstGeom prst="ellipse">
            <a:avLst/>
          </a:prstGeom>
          <a:solidFill>
            <a:schemeClr val="accent1"/>
          </a:solidFill>
          <a:ln w="12700">
            <a:solidFill>
              <a:schemeClr val="accent1"/>
            </a:solidFill>
            <a:prstDash val="solid"/>
          </a:ln>
        </p:spPr>
      </p:sp>
      <p:sp>
        <p:nvSpPr>
          <p:cNvPr id="22" name="Text 19"/>
          <p:cNvSpPr txBox="1"/>
          <p:nvPr/>
        </p:nvSpPr>
        <p:spPr>
          <a:xfrm>
            <a:off x="731520" y="364845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0"/>
          <p:cNvSpPr txBox="1"/>
          <p:nvPr/>
        </p:nvSpPr>
        <p:spPr>
          <a:xfrm>
            <a:off x="1417320" y="3520440"/>
            <a:ext cx="5577840" cy="749808"/>
          </a:xfrm>
          <a:prstGeom prst="rect">
            <a:avLst/>
          </a:prstGeom>
          <a:noFill/>
          <a:ln/>
        </p:spPr>
        <p:txBody>
          <a:bodyPr wrap="square" lIns="0" tIns="0" rIns="0" bIns="0" rtlCol="0" anchor="ctr"/>
          <a:lstStyle/>
          <a:p>
            <a:pPr indent="0" marL="0">
              <a:buNone/>
            </a:pPr>
            <a:r>
              <a:rPr lang="en-US" sz="1400" b="1" dirty="0">
                <a:solidFill>
                  <a:schemeClr val="tx1"/>
                </a:solidFill>
              </a:rPr>
              <a:t>Redesign the Welcome offer (largest cost line, ~11–12% margin)</a:t>
            </a:r>
            <a:endParaRPr lang="en-US" sz="1400" dirty="0"/>
          </a:p>
        </p:txBody>
      </p:sp>
      <p:sp>
        <p:nvSpPr>
          <p:cNvPr id="24" name="Text 21"/>
          <p:cNvSpPr txBox="1"/>
          <p:nvPr/>
        </p:nvSpPr>
        <p:spPr>
          <a:xfrm>
            <a:off x="7223760" y="3520440"/>
            <a:ext cx="2011680" cy="749808"/>
          </a:xfrm>
          <a:prstGeom prst="rect">
            <a:avLst/>
          </a:prstGeom>
          <a:noFill/>
          <a:ln/>
        </p:spPr>
        <p:txBody>
          <a:bodyPr wrap="square" lIns="0" tIns="0" rIns="0" bIns="0" rtlCol="0" anchor="ctr"/>
          <a:lstStyle/>
          <a:p>
            <a:pPr indent="0" marL="0">
              <a:buNone/>
            </a:pPr>
            <a:r>
              <a:rPr lang="en-US" sz="1200" dirty="0">
                <a:solidFill>
                  <a:schemeClr val="tx1"/>
                </a:solidFill>
              </a:rPr>
              <a:t>Growth &amp; Acquisition Lead</a:t>
            </a:r>
            <a:endParaRPr lang="en-US" sz="1200" dirty="0"/>
          </a:p>
        </p:txBody>
      </p:sp>
      <p:sp>
        <p:nvSpPr>
          <p:cNvPr id="25" name="Text 22"/>
          <p:cNvSpPr txBox="1"/>
          <p:nvPr/>
        </p:nvSpPr>
        <p:spPr>
          <a:xfrm>
            <a:off x="9418320" y="3520440"/>
            <a:ext cx="2057400" cy="749808"/>
          </a:xfrm>
          <a:prstGeom prst="rect">
            <a:avLst/>
          </a:prstGeom>
          <a:noFill/>
          <a:ln/>
        </p:spPr>
        <p:txBody>
          <a:bodyPr wrap="square" lIns="0" tIns="0" rIns="0" bIns="0" rtlCol="0" anchor="ctr"/>
          <a:lstStyle/>
          <a:p>
            <a:pPr indent="0" marL="0">
              <a:buNone/>
            </a:pPr>
            <a:r>
              <a:rPr lang="en-US" sz="1200" dirty="0">
                <a:solidFill>
                  <a:schemeClr val="tx1"/>
                </a:solidFill>
              </a:rPr>
              <a:t>Margin per € spent on Welcome (now ~€1.20)</a:t>
            </a:r>
            <a:endParaRPr lang="en-US" sz="1200" dirty="0"/>
          </a:p>
        </p:txBody>
      </p:sp>
      <p:sp>
        <p:nvSpPr>
          <p:cNvPr id="26" name="Card"/>
          <p:cNvSpPr/>
          <p:nvPr/>
        </p:nvSpPr>
        <p:spPr>
          <a:xfrm>
            <a:off x="548640" y="4389120"/>
            <a:ext cx="11064240" cy="749808"/>
          </a:xfrm>
          <a:prstGeom prst="roundRect">
            <a:avLst>
              <a:gd name="adj" fmla="val 1219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7" name="NumCircle"/>
          <p:cNvSpPr/>
          <p:nvPr/>
        </p:nvSpPr>
        <p:spPr>
          <a:xfrm>
            <a:off x="731520" y="4517136"/>
            <a:ext cx="493776" cy="493776"/>
          </a:xfrm>
          <a:prstGeom prst="ellipse">
            <a:avLst/>
          </a:prstGeom>
          <a:solidFill>
            <a:schemeClr val="accent1"/>
          </a:solidFill>
          <a:ln w="12700">
            <a:solidFill>
              <a:schemeClr val="accent1"/>
            </a:solidFill>
            <a:prstDash val="solid"/>
          </a:ln>
        </p:spPr>
      </p:sp>
      <p:sp>
        <p:nvSpPr>
          <p:cNvPr id="28" name="Text 25"/>
          <p:cNvSpPr txBox="1"/>
          <p:nvPr/>
        </p:nvSpPr>
        <p:spPr>
          <a:xfrm>
            <a:off x="731520" y="451713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9" name="Text 26"/>
          <p:cNvSpPr txBox="1"/>
          <p:nvPr/>
        </p:nvSpPr>
        <p:spPr>
          <a:xfrm>
            <a:off x="1417320" y="4389120"/>
            <a:ext cx="5577840" cy="749808"/>
          </a:xfrm>
          <a:prstGeom prst="rect">
            <a:avLst/>
          </a:prstGeom>
          <a:noFill/>
          <a:ln/>
        </p:spPr>
        <p:txBody>
          <a:bodyPr wrap="square" lIns="0" tIns="0" rIns="0" bIns="0" rtlCol="0" anchor="ctr"/>
          <a:lstStyle/>
          <a:p>
            <a:pPr indent="0" marL="0">
              <a:buNone/>
            </a:pPr>
            <a:r>
              <a:rPr lang="en-US" sz="1400" b="1" dirty="0">
                <a:solidFill>
                  <a:schemeClr val="tx1"/>
                </a:solidFill>
              </a:rPr>
              <a:t>Launch At Risk win-back and VIP protection journeys</a:t>
            </a:r>
            <a:endParaRPr lang="en-US" sz="1400" dirty="0"/>
          </a:p>
        </p:txBody>
      </p:sp>
      <p:sp>
        <p:nvSpPr>
          <p:cNvPr id="30" name="Text 27"/>
          <p:cNvSpPr txBox="1"/>
          <p:nvPr/>
        </p:nvSpPr>
        <p:spPr>
          <a:xfrm>
            <a:off x="7223760" y="4389120"/>
            <a:ext cx="2011680" cy="749808"/>
          </a:xfrm>
          <a:prstGeom prst="rect">
            <a:avLst/>
          </a:prstGeom>
          <a:noFill/>
          <a:ln/>
        </p:spPr>
        <p:txBody>
          <a:bodyPr wrap="square" lIns="0" tIns="0" rIns="0" bIns="0" rtlCol="0" anchor="ctr"/>
          <a:lstStyle/>
          <a:p>
            <a:pPr indent="0" marL="0">
              <a:buNone/>
            </a:pPr>
            <a:r>
              <a:rPr lang="en-US" sz="1200" dirty="0">
                <a:solidFill>
                  <a:schemeClr val="tx1"/>
                </a:solidFill>
              </a:rPr>
              <a:t>CRM &amp; Loyalty</a:t>
            </a:r>
            <a:endParaRPr lang="en-US" sz="1200" dirty="0"/>
          </a:p>
        </p:txBody>
      </p:sp>
      <p:sp>
        <p:nvSpPr>
          <p:cNvPr id="31" name="Text 28"/>
          <p:cNvSpPr txBox="1"/>
          <p:nvPr/>
        </p:nvSpPr>
        <p:spPr>
          <a:xfrm>
            <a:off x="9418320" y="4389120"/>
            <a:ext cx="2057400" cy="749808"/>
          </a:xfrm>
          <a:prstGeom prst="rect">
            <a:avLst/>
          </a:prstGeom>
          <a:noFill/>
          <a:ln/>
        </p:spPr>
        <p:txBody>
          <a:bodyPr wrap="square" lIns="0" tIns="0" rIns="0" bIns="0" rtlCol="0" anchor="ctr"/>
          <a:lstStyle/>
          <a:p>
            <a:pPr indent="0" marL="0">
              <a:buNone/>
            </a:pPr>
            <a:r>
              <a:rPr lang="en-US" sz="1200" dirty="0">
                <a:solidFill>
                  <a:schemeClr val="tx1"/>
                </a:solidFill>
              </a:rPr>
              <a:t>At Risk share (14%), VIP count (131)</a:t>
            </a:r>
            <a:endParaRPr lang="en-US" sz="1200" dirty="0"/>
          </a:p>
        </p:txBody>
      </p:sp>
      <p:sp>
        <p:nvSpPr>
          <p:cNvPr id="32" name="Card"/>
          <p:cNvSpPr/>
          <p:nvPr/>
        </p:nvSpPr>
        <p:spPr>
          <a:xfrm>
            <a:off x="548640" y="5257800"/>
            <a:ext cx="11064240" cy="749808"/>
          </a:xfrm>
          <a:prstGeom prst="roundRect">
            <a:avLst>
              <a:gd name="adj" fmla="val 12195"/>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33" name="NumCircle"/>
          <p:cNvSpPr/>
          <p:nvPr/>
        </p:nvSpPr>
        <p:spPr>
          <a:xfrm>
            <a:off x="731520" y="5385816"/>
            <a:ext cx="493776" cy="493776"/>
          </a:xfrm>
          <a:prstGeom prst="ellipse">
            <a:avLst/>
          </a:prstGeom>
          <a:solidFill>
            <a:schemeClr val="accent1"/>
          </a:solidFill>
          <a:ln w="12700">
            <a:solidFill>
              <a:schemeClr val="accent1"/>
            </a:solidFill>
            <a:prstDash val="solid"/>
          </a:ln>
        </p:spPr>
      </p:sp>
      <p:sp>
        <p:nvSpPr>
          <p:cNvPr id="34" name="Text 31"/>
          <p:cNvSpPr txBox="1"/>
          <p:nvPr/>
        </p:nvSpPr>
        <p:spPr>
          <a:xfrm>
            <a:off x="731520" y="5385816"/>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5" name="Text 32"/>
          <p:cNvSpPr txBox="1"/>
          <p:nvPr/>
        </p:nvSpPr>
        <p:spPr>
          <a:xfrm>
            <a:off x="1417320" y="5257800"/>
            <a:ext cx="5577840" cy="749808"/>
          </a:xfrm>
          <a:prstGeom prst="rect">
            <a:avLst/>
          </a:prstGeom>
          <a:noFill/>
          <a:ln/>
        </p:spPr>
        <p:txBody>
          <a:bodyPr wrap="square" lIns="0" tIns="0" rIns="0" bIns="0" rtlCol="0" anchor="ctr"/>
          <a:lstStyle/>
          <a:p>
            <a:pPr indent="0" marL="0">
              <a:buNone/>
            </a:pPr>
            <a:r>
              <a:rPr lang="en-US" sz="1400" b="1" dirty="0">
                <a:solidFill>
                  <a:schemeClr val="tx1"/>
                </a:solidFill>
              </a:rPr>
              <a:t>Add channel-by-segment quality metrics to the monthly scorecard</a:t>
            </a:r>
            <a:endParaRPr lang="en-US" sz="1400" dirty="0"/>
          </a:p>
        </p:txBody>
      </p:sp>
      <p:sp>
        <p:nvSpPr>
          <p:cNvPr id="36" name="Text 33"/>
          <p:cNvSpPr txBox="1"/>
          <p:nvPr/>
        </p:nvSpPr>
        <p:spPr>
          <a:xfrm>
            <a:off x="7223760" y="5257800"/>
            <a:ext cx="2011680" cy="749808"/>
          </a:xfrm>
          <a:prstGeom prst="rect">
            <a:avLst/>
          </a:prstGeom>
          <a:noFill/>
          <a:ln/>
        </p:spPr>
        <p:txBody>
          <a:bodyPr wrap="square" lIns="0" tIns="0" rIns="0" bIns="0" rtlCol="0" anchor="ctr"/>
          <a:lstStyle/>
          <a:p>
            <a:pPr indent="0" marL="0">
              <a:buNone/>
            </a:pPr>
            <a:r>
              <a:rPr lang="en-US" sz="1200" dirty="0">
                <a:solidFill>
                  <a:schemeClr val="tx1"/>
                </a:solidFill>
              </a:rPr>
              <a:t>Analytics, Marketing</a:t>
            </a:r>
            <a:endParaRPr lang="en-US" sz="1200" dirty="0"/>
          </a:p>
        </p:txBody>
      </p:sp>
      <p:sp>
        <p:nvSpPr>
          <p:cNvPr id="37" name="Text 34"/>
          <p:cNvSpPr txBox="1"/>
          <p:nvPr/>
        </p:nvSpPr>
        <p:spPr>
          <a:xfrm>
            <a:off x="9418320" y="5257800"/>
            <a:ext cx="2057400" cy="749808"/>
          </a:xfrm>
          <a:prstGeom prst="rect">
            <a:avLst/>
          </a:prstGeom>
          <a:noFill/>
          <a:ln/>
        </p:spPr>
        <p:txBody>
          <a:bodyPr wrap="square" lIns="0" tIns="0" rIns="0" bIns="0" rtlCol="0" anchor="ctr"/>
          <a:lstStyle/>
          <a:p>
            <a:pPr indent="0" marL="0">
              <a:buNone/>
            </a:pPr>
            <a:r>
              <a:rPr lang="en-US" sz="1200" dirty="0">
                <a:solidFill>
                  <a:schemeClr val="tx1"/>
                </a:solidFill>
              </a:rPr>
              <a:t>VIP % and Deal Seeker % by channel</a:t>
            </a:r>
            <a:endParaRPr lang="en-US" sz="12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48640" y="292608"/>
            <a:ext cx="82296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SYNTHESIS</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Data notes to validate before presenting</a:t>
            </a:r>
            <a:endParaRPr lang="en-US" sz="3200" dirty="0"/>
          </a:p>
        </p:txBody>
      </p:sp>
      <p:sp>
        <p:nvSpPr>
          <p:cNvPr id="5" name="Card"/>
          <p:cNvSpPr/>
          <p:nvPr/>
        </p:nvSpPr>
        <p:spPr>
          <a:xfrm>
            <a:off x="548640" y="150876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Text 3"/>
          <p:cNvSpPr txBox="1"/>
          <p:nvPr/>
        </p:nvSpPr>
        <p:spPr>
          <a:xfrm>
            <a:off x="777240" y="164592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Quarterly customer chart</a:t>
            </a:r>
            <a:endParaRPr lang="en-US" sz="1600" dirty="0"/>
          </a:p>
        </p:txBody>
      </p:sp>
      <p:sp>
        <p:nvSpPr>
          <p:cNvPr id="7" name="Text 4"/>
          <p:cNvSpPr txBox="1"/>
          <p:nvPr/>
        </p:nvSpPr>
        <p:spPr>
          <a:xfrm>
            <a:off x="777240" y="2011680"/>
            <a:ext cx="4965192" cy="868680"/>
          </a:xfrm>
          <a:prstGeom prst="rect">
            <a:avLst/>
          </a:prstGeom>
          <a:noFill/>
          <a:ln/>
        </p:spPr>
        <p:txBody>
          <a:bodyPr wrap="square" lIns="0" tIns="0" rIns="0" bIns="0" rtlCol="0" anchor="t"/>
          <a:lstStyle/>
          <a:p>
            <a:pPr indent="0" marL="0">
              <a:buNone/>
            </a:pPr>
            <a:r>
              <a:rPr lang="en-US" sz="1400" dirty="0">
                <a:solidFill>
                  <a:schemeClr val="tx1"/>
                </a:solidFill>
              </a:rPr>
              <a:t>Bars sum to about 5K vs 2,200 acquired customers, so it likely shows active customers per quarter. Confirm the definition.</a:t>
            </a:r>
            <a:endParaRPr lang="en-US" sz="1400" dirty="0"/>
          </a:p>
        </p:txBody>
      </p:sp>
      <p:sp>
        <p:nvSpPr>
          <p:cNvPr id="8" name="Card"/>
          <p:cNvSpPr/>
          <p:nvPr/>
        </p:nvSpPr>
        <p:spPr>
          <a:xfrm>
            <a:off x="6190488" y="150876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Text 6"/>
          <p:cNvSpPr txBox="1"/>
          <p:nvPr/>
        </p:nvSpPr>
        <p:spPr>
          <a:xfrm>
            <a:off x="6419088" y="164592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Q4 2025 dip</a:t>
            </a:r>
            <a:endParaRPr lang="en-US" sz="1600" dirty="0"/>
          </a:p>
        </p:txBody>
      </p:sp>
      <p:sp>
        <p:nvSpPr>
          <p:cNvPr id="10" name="Text 7"/>
          <p:cNvSpPr txBox="1"/>
          <p:nvPr/>
        </p:nvSpPr>
        <p:spPr>
          <a:xfrm>
            <a:off x="6419088" y="2011680"/>
            <a:ext cx="4965192" cy="868680"/>
          </a:xfrm>
          <a:prstGeom prst="rect">
            <a:avLst/>
          </a:prstGeom>
          <a:noFill/>
          <a:ln/>
        </p:spPr>
        <p:txBody>
          <a:bodyPr wrap="square" lIns="0" tIns="0" rIns="0" bIns="0" rtlCol="0" anchor="t"/>
          <a:lstStyle/>
          <a:p>
            <a:pPr indent="0" marL="0">
              <a:buNone/>
            </a:pPr>
            <a:r>
              <a:rPr lang="en-US" sz="1400" dirty="0">
                <a:solidFill>
                  <a:schemeClr val="tx1"/>
                </a:solidFill>
              </a:rPr>
              <a:t>Volume is about 23% below Q3. Confirm seasonality vs incomplete data.</a:t>
            </a:r>
            <a:endParaRPr lang="en-US" sz="1400" dirty="0"/>
          </a:p>
        </p:txBody>
      </p:sp>
      <p:sp>
        <p:nvSpPr>
          <p:cNvPr id="11" name="Card"/>
          <p:cNvSpPr/>
          <p:nvPr/>
        </p:nvSpPr>
        <p:spPr>
          <a:xfrm>
            <a:off x="548640" y="306324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2" name="Text 9"/>
          <p:cNvSpPr txBox="1"/>
          <p:nvPr/>
        </p:nvSpPr>
        <p:spPr>
          <a:xfrm>
            <a:off x="777240" y="320040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Contribution margin definition</a:t>
            </a:r>
            <a:endParaRPr lang="en-US" sz="1600" dirty="0"/>
          </a:p>
        </p:txBody>
      </p:sp>
      <p:sp>
        <p:nvSpPr>
          <p:cNvPr id="13" name="Text 10"/>
          <p:cNvSpPr txBox="1"/>
          <p:nvPr/>
        </p:nvSpPr>
        <p:spPr>
          <a:xfrm>
            <a:off x="777240" y="3566160"/>
            <a:ext cx="4965192" cy="868680"/>
          </a:xfrm>
          <a:prstGeom prst="rect">
            <a:avLst/>
          </a:prstGeom>
          <a:noFill/>
          <a:ln/>
        </p:spPr>
        <p:txBody>
          <a:bodyPr wrap="square" lIns="0" tIns="0" rIns="0" bIns="0" rtlCol="0" anchor="t"/>
          <a:lstStyle/>
          <a:p>
            <a:pPr indent="0" marL="0">
              <a:buNone/>
            </a:pPr>
            <a:r>
              <a:rPr lang="en-US" sz="1400" dirty="0">
                <a:solidFill>
                  <a:schemeClr val="tx1"/>
                </a:solidFill>
              </a:rPr>
              <a:t>Confirm whether it is before or after marketing cost; per-€ ratios depend on it.</a:t>
            </a:r>
            <a:endParaRPr lang="en-US" sz="1400" dirty="0"/>
          </a:p>
        </p:txBody>
      </p:sp>
      <p:sp>
        <p:nvSpPr>
          <p:cNvPr id="14" name="Card"/>
          <p:cNvSpPr/>
          <p:nvPr/>
        </p:nvSpPr>
        <p:spPr>
          <a:xfrm>
            <a:off x="6190488" y="306324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5" name="Text 12"/>
          <p:cNvSpPr txBox="1"/>
          <p:nvPr/>
        </p:nvSpPr>
        <p:spPr>
          <a:xfrm>
            <a:off x="6419088" y="320040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Values marked ~</a:t>
            </a:r>
            <a:endParaRPr lang="en-US" sz="1600" dirty="0"/>
          </a:p>
        </p:txBody>
      </p:sp>
      <p:sp>
        <p:nvSpPr>
          <p:cNvPr id="16" name="Text 13"/>
          <p:cNvSpPr txBox="1"/>
          <p:nvPr/>
        </p:nvSpPr>
        <p:spPr>
          <a:xfrm>
            <a:off x="6419088" y="3566160"/>
            <a:ext cx="4965192" cy="868680"/>
          </a:xfrm>
          <a:prstGeom prst="rect">
            <a:avLst/>
          </a:prstGeom>
          <a:noFill/>
          <a:ln/>
        </p:spPr>
        <p:txBody>
          <a:bodyPr wrap="square" lIns="0" tIns="0" rIns="0" bIns="0" rtlCol="0" anchor="t"/>
          <a:lstStyle/>
          <a:p>
            <a:pPr indent="0" marL="0">
              <a:buNone/>
            </a:pPr>
            <a:r>
              <a:rPr lang="en-US" sz="1400" dirty="0">
                <a:solidFill>
                  <a:schemeClr val="tx1"/>
                </a:solidFill>
              </a:rPr>
              <a:t>Welcome, Weekend Flash, Summer Event and VIP Private Sale were read from charts. Export exact figures.</a:t>
            </a:r>
            <a:endParaRPr lang="en-US" sz="1400" dirty="0"/>
          </a:p>
        </p:txBody>
      </p:sp>
      <p:sp>
        <p:nvSpPr>
          <p:cNvPr id="17" name="Card"/>
          <p:cNvSpPr/>
          <p:nvPr/>
        </p:nvSpPr>
        <p:spPr>
          <a:xfrm>
            <a:off x="548640" y="461772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8" name="Text 15"/>
          <p:cNvSpPr txBox="1"/>
          <p:nvPr/>
        </p:nvSpPr>
        <p:spPr>
          <a:xfrm>
            <a:off x="777240" y="475488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Email/CRM attribution</a:t>
            </a:r>
            <a:endParaRPr lang="en-US" sz="1600" dirty="0"/>
          </a:p>
        </p:txBody>
      </p:sp>
      <p:sp>
        <p:nvSpPr>
          <p:cNvPr id="19" name="Text 16"/>
          <p:cNvSpPr txBox="1"/>
          <p:nvPr/>
        </p:nvSpPr>
        <p:spPr>
          <a:xfrm>
            <a:off x="777240" y="5120640"/>
            <a:ext cx="4965192" cy="868680"/>
          </a:xfrm>
          <a:prstGeom prst="rect">
            <a:avLst/>
          </a:prstGeom>
          <a:noFill/>
          <a:ln/>
        </p:spPr>
        <p:txBody>
          <a:bodyPr wrap="square" lIns="0" tIns="0" rIns="0" bIns="0" rtlCol="0" anchor="t"/>
          <a:lstStyle/>
          <a:p>
            <a:pPr indent="0" marL="0">
              <a:buNone/>
            </a:pPr>
            <a:r>
              <a:rPr lang="en-US" sz="1400" dirty="0">
                <a:solidFill>
                  <a:schemeClr val="tx1"/>
                </a:solidFill>
              </a:rPr>
              <a:t>VIP share may reflect existing customers being emailed. Compare first-touch and last-touch.</a:t>
            </a:r>
            <a:endParaRPr lang="en-US" sz="1400" dirty="0"/>
          </a:p>
        </p:txBody>
      </p:sp>
      <p:sp>
        <p:nvSpPr>
          <p:cNvPr id="20" name="Card"/>
          <p:cNvSpPr/>
          <p:nvPr/>
        </p:nvSpPr>
        <p:spPr>
          <a:xfrm>
            <a:off x="6190488" y="4617720"/>
            <a:ext cx="5422392" cy="1417320"/>
          </a:xfrm>
          <a:prstGeom prst="roundRect">
            <a:avLst>
              <a:gd name="adj" fmla="val 64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1" name="Text 18"/>
          <p:cNvSpPr txBox="1"/>
          <p:nvPr/>
        </p:nvSpPr>
        <p:spPr>
          <a:xfrm>
            <a:off x="6419088" y="4754880"/>
            <a:ext cx="4965192"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Lifecycle tail</a:t>
            </a:r>
            <a:endParaRPr lang="en-US" sz="1600" dirty="0"/>
          </a:p>
        </p:txBody>
      </p:sp>
      <p:sp>
        <p:nvSpPr>
          <p:cNvPr id="22" name="Text 19"/>
          <p:cNvSpPr txBox="1"/>
          <p:nvPr/>
        </p:nvSpPr>
        <p:spPr>
          <a:xfrm>
            <a:off x="6419088" y="5120640"/>
            <a:ext cx="4965192" cy="868680"/>
          </a:xfrm>
          <a:prstGeom prst="rect">
            <a:avLst/>
          </a:prstGeom>
          <a:noFill/>
          <a:ln/>
        </p:spPr>
        <p:txBody>
          <a:bodyPr wrap="square" lIns="0" tIns="0" rIns="0" bIns="0" rtlCol="0" anchor="t"/>
          <a:lstStyle/>
          <a:p>
            <a:pPr indent="0" marL="0">
              <a:buNone/>
            </a:pPr>
            <a:r>
              <a:rPr lang="en-US" sz="1400" dirty="0">
                <a:solidFill>
                  <a:schemeClr val="tx1"/>
                </a:solidFill>
              </a:rPr>
              <a:t>13–18 month counts include only the earliest cohorts, so drop-off is overstated. Compare by cohort.</a:t>
            </a:r>
            <a:endParaRPr lang="en-US" sz="1400" dirty="0"/>
          </a:p>
        </p:txBody>
      </p:sp>
      <p:sp>
        <p:nvSpPr>
          <p:cNvPr id="23" name="Text 20"/>
          <p:cNvSpPr txBox="1"/>
          <p:nvPr/>
        </p:nvSpPr>
        <p:spPr>
          <a:xfrm>
            <a:off x="548640" y="6144768"/>
            <a:ext cx="11064240" cy="228600"/>
          </a:xfrm>
          <a:prstGeom prst="rect">
            <a:avLst/>
          </a:prstGeom>
          <a:noFill/>
          <a:ln/>
        </p:spPr>
        <p:txBody>
          <a:bodyPr wrap="square" lIns="0" tIns="0" rIns="0" bIns="0" rtlCol="0" anchor="t"/>
          <a:lstStyle/>
          <a:p>
            <a:pPr indent="0" marL="0">
              <a:buNone/>
            </a:pPr>
            <a:r>
              <a:rPr lang="en-US" sz="1100" dirty="0">
                <a:solidFill>
                  <a:schemeClr val="accent6"/>
                </a:solidFill>
              </a:rPr>
              <a:t>Derived metrics (per-customer cost and margin, margin shares, return ratios) are calculated from dashboard figures and are not dashboard measures.</a:t>
            </a:r>
            <a:endParaRPr lang="en-US" sz="1100" dirty="0"/>
          </a:p>
        </p:txBody>
      </p:sp>
      <p:sp>
        <p:nvSpPr>
          <p:cNvPr id="25" name="Slide Number Placeholder 0"/>
          <p:cNvSpPr>
            <a:spLocks noGrp="1"/>
          </p:cNvSpPr>
          <p:nvPr>
            <p:ph type="sldNum" sz="quarter" idx="4294967295"/>
          </p:nvPr>
        </p:nvSpPr>
        <p:spPr>
          <a:xfrm>
            <a:off x="11064240"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arketing Acquisition">
  <a:themeElements>
    <a:clrScheme name="Marketing Acquisition">
      <a:dk1>
        <a:srgbClr val="2B1B17"/>
      </a:dk1>
      <a:lt1>
        <a:srgbClr val="FFFFFF"/>
      </a:lt1>
      <a:dk2>
        <a:srgbClr val="5E1F17"/>
      </a:dk2>
      <a:lt2>
        <a:srgbClr val="F3EDE0"/>
      </a:lt2>
      <a:accent1>
        <a:srgbClr val="8B2E22"/>
      </a:accent1>
      <a:accent2>
        <a:srgbClr val="C4B29E"/>
      </a:accent2>
      <a:accent3>
        <a:srgbClr val="D98A6C"/>
      </a:accent3>
      <a:accent4>
        <a:srgbClr val="3F7D58"/>
      </a:accent4>
      <a:accent5>
        <a:srgbClr val="D9A441"/>
      </a:accent5>
      <a:accent6>
        <a:srgbClr val="5B4A42"/>
      </a:accent6>
      <a:hlink>
        <a:srgbClr val="8B2E22"/>
      </a:hlink>
      <a:folHlink>
        <a:srgbClr val="5B4A42"/>
      </a:folHlink>
    </a:clrScheme>
    <a:fontScheme name="Marketing Acquisi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&amp; Customer Acquisition – Power BI Analysis Report</dc:title>
  <dc:subject>PptxGenJS Presentation</dc:subject>
  <dc:creator>Samuel Sholademi</dc:creator>
  <cp:lastModifiedBy>Samuel Sholademi</cp:lastModifiedBy>
  <cp:revision>1</cp:revision>
  <dcterms:created xsi:type="dcterms:W3CDTF">2026-10-03T12:56:59Z</dcterms:created>
  <dcterms:modified xsi:type="dcterms:W3CDTF">2026-10-03T12:56:59Z</dcterms:modified>
</cp:coreProperties>
</file>